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Arial MT Pro" panose="020B0604020202020204" charset="0"/>
      <p:regular r:id="rId11"/>
    </p:embeddedFont>
    <p:embeddedFont>
      <p:font typeface="Codec Pro" panose="020B0604020202020204" charset="0"/>
      <p:regular r:id="rId12"/>
    </p:embeddedFont>
    <p:embeddedFont>
      <p:font typeface="Codec Pro Bold" panose="020B0604020202020204" charset="0"/>
      <p:regular r:id="rId13"/>
    </p:embeddedFont>
    <p:embeddedFont>
      <p:font typeface="Open Sauce" panose="020B0604020202020204" charset="0"/>
      <p:regular r:id="rId14"/>
    </p:embeddedFont>
    <p:embeddedFont>
      <p:font typeface="Open Sauce Bold" panose="020B0604020202020204" charset="0"/>
      <p:regular r:id="rId15"/>
    </p:embeddedFont>
    <p:embeddedFont>
      <p:font typeface="Poppins Bold" panose="020B0604020202020204" charset="0"/>
      <p:regular r:id="rId16"/>
    </p:embeddedFont>
    <p:embeddedFont>
      <p:font typeface="Poppins Light" panose="020B0502040204020203" pitchFamily="2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5" d="100"/>
          <a:sy n="65" d="100"/>
        </p:scale>
        <p:origin x="82" y="1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sv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6" Type="http://schemas.openxmlformats.org/officeDocument/2006/relationships/image" Target="../media/image1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7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drive.google.com/file/d/1gF84aYouxVj9ViKbwnLlQ1arFnah0AYJ/view?usp=sharing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hyperlink" Target="https://drive.google.com/file/d/13YBAgla-5iUgsVtkam6lrZkMAoIz-xf8/view?usp=sharing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svg"/><Relationship Id="rId3" Type="http://schemas.openxmlformats.org/officeDocument/2006/relationships/image" Target="../media/image26.svg"/><Relationship Id="rId7" Type="http://schemas.openxmlformats.org/officeDocument/2006/relationships/image" Target="../media/image30.sv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11" Type="http://schemas.openxmlformats.org/officeDocument/2006/relationships/image" Target="../media/image34.svg"/><Relationship Id="rId5" Type="http://schemas.openxmlformats.org/officeDocument/2006/relationships/image" Target="../media/image28.svg"/><Relationship Id="rId15" Type="http://schemas.openxmlformats.org/officeDocument/2006/relationships/image" Target="../media/image38.sv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svg"/><Relationship Id="rId14" Type="http://schemas.openxmlformats.org/officeDocument/2006/relationships/image" Target="../media/image3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milestone5-fewucmtz4wjy4nwvowtfpv.streamlit.app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D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6338728"/>
            <a:ext cx="16230600" cy="304324"/>
          </a:xfrm>
          <a:custGeom>
            <a:avLst/>
            <a:gdLst/>
            <a:ahLst/>
            <a:cxnLst/>
            <a:rect l="l" t="t" r="r" b="b"/>
            <a:pathLst>
              <a:path w="16230600" h="304324">
                <a:moveTo>
                  <a:pt x="0" y="0"/>
                </a:moveTo>
                <a:lnTo>
                  <a:pt x="16230600" y="0"/>
                </a:lnTo>
                <a:lnTo>
                  <a:pt x="16230600" y="304324"/>
                </a:lnTo>
                <a:lnTo>
                  <a:pt x="0" y="30432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08552" y="6919277"/>
            <a:ext cx="1550108" cy="1575895"/>
          </a:xfrm>
          <a:custGeom>
            <a:avLst/>
            <a:gdLst/>
            <a:ahLst/>
            <a:cxnLst/>
            <a:rect l="l" t="t" r="r" b="b"/>
            <a:pathLst>
              <a:path w="1550108" h="1575895">
                <a:moveTo>
                  <a:pt x="0" y="0"/>
                </a:moveTo>
                <a:lnTo>
                  <a:pt x="1550108" y="0"/>
                </a:lnTo>
                <a:lnTo>
                  <a:pt x="1550108" y="1575895"/>
                </a:lnTo>
                <a:lnTo>
                  <a:pt x="0" y="157589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0" y="1091033"/>
            <a:ext cx="18288000" cy="4966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AI-Driven Predictive Maintenance System Using Time-Series Sensor Data 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543952" y="6695353"/>
            <a:ext cx="5252085" cy="1709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  <a:spcBef>
                <a:spcPct val="0"/>
              </a:spcBef>
            </a:pPr>
            <a:r>
              <a:rPr lang="en-US" sz="9200" b="1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By: Thilak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9258300"/>
            <a:ext cx="18941525" cy="3086100"/>
            <a:chOff x="0" y="0"/>
            <a:chExt cx="4988714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8714" cy="812800"/>
            </a:xfrm>
            <a:custGeom>
              <a:avLst/>
              <a:gdLst/>
              <a:ahLst/>
              <a:cxnLst/>
              <a:rect l="l" t="t" r="r" b="b"/>
              <a:pathLst>
                <a:path w="4988714" h="812800">
                  <a:moveTo>
                    <a:pt x="0" y="0"/>
                  </a:moveTo>
                  <a:lnTo>
                    <a:pt x="4988714" y="0"/>
                  </a:lnTo>
                  <a:lnTo>
                    <a:pt x="498871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A0E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76200"/>
              <a:ext cx="4988714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23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7712195" y="9883016"/>
            <a:ext cx="9525" cy="235582"/>
          </a:xfrm>
          <a:custGeom>
            <a:avLst/>
            <a:gdLst/>
            <a:ahLst/>
            <a:cxnLst/>
            <a:rect l="l" t="t" r="r" b="b"/>
            <a:pathLst>
              <a:path w="9525" h="235582">
                <a:moveTo>
                  <a:pt x="0" y="0"/>
                </a:moveTo>
                <a:lnTo>
                  <a:pt x="9525" y="0"/>
                </a:lnTo>
                <a:lnTo>
                  <a:pt x="9525" y="235582"/>
                </a:lnTo>
                <a:lnTo>
                  <a:pt x="0" y="2355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8932" r="-48932"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328327" y="217494"/>
            <a:ext cx="1247775" cy="1123950"/>
            <a:chOff x="0" y="0"/>
            <a:chExt cx="1663700" cy="1498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63700" cy="1498600"/>
            </a:xfrm>
            <a:custGeom>
              <a:avLst/>
              <a:gdLst/>
              <a:ahLst/>
              <a:cxnLst/>
              <a:rect l="l" t="t" r="r" b="b"/>
              <a:pathLst>
                <a:path w="1663700" h="1498600">
                  <a:moveTo>
                    <a:pt x="0" y="0"/>
                  </a:moveTo>
                  <a:lnTo>
                    <a:pt x="1663700" y="0"/>
                  </a:lnTo>
                  <a:lnTo>
                    <a:pt x="1663700" y="1498600"/>
                  </a:lnTo>
                  <a:lnTo>
                    <a:pt x="0" y="1498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4488" r="-104488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-63503" y="1503998"/>
            <a:ext cx="4010530" cy="150809"/>
          </a:xfrm>
          <a:custGeom>
            <a:avLst/>
            <a:gdLst/>
            <a:ahLst/>
            <a:cxnLst/>
            <a:rect l="l" t="t" r="r" b="b"/>
            <a:pathLst>
              <a:path w="4010530" h="150809">
                <a:moveTo>
                  <a:pt x="0" y="0"/>
                </a:moveTo>
                <a:lnTo>
                  <a:pt x="4010530" y="0"/>
                </a:lnTo>
                <a:lnTo>
                  <a:pt x="4010530" y="150809"/>
                </a:lnTo>
                <a:lnTo>
                  <a:pt x="0" y="1508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14" b="-414"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952500" y="2608240"/>
            <a:ext cx="5139433" cy="5909066"/>
            <a:chOff x="0" y="0"/>
            <a:chExt cx="6852577" cy="78787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852539" cy="7878755"/>
            </a:xfrm>
            <a:custGeom>
              <a:avLst/>
              <a:gdLst/>
              <a:ahLst/>
              <a:cxnLst/>
              <a:rect l="l" t="t" r="r" b="b"/>
              <a:pathLst>
                <a:path w="6852539" h="7878755">
                  <a:moveTo>
                    <a:pt x="0" y="0"/>
                  </a:moveTo>
                  <a:lnTo>
                    <a:pt x="6852539" y="0"/>
                  </a:lnTo>
                  <a:lnTo>
                    <a:pt x="6852539" y="7878755"/>
                  </a:lnTo>
                  <a:lnTo>
                    <a:pt x="0" y="7878755"/>
                  </a:lnTo>
                  <a:close/>
                </a:path>
              </a:pathLst>
            </a:custGeom>
            <a:solidFill>
              <a:srgbClr val="A9E4FE"/>
            </a:solidFill>
          </p:spPr>
        </p:sp>
      </p:grpSp>
      <p:grpSp>
        <p:nvGrpSpPr>
          <p:cNvPr id="11" name="Group 11"/>
          <p:cNvGrpSpPr/>
          <p:nvPr/>
        </p:nvGrpSpPr>
        <p:grpSpPr>
          <a:xfrm>
            <a:off x="6572250" y="2608240"/>
            <a:ext cx="5139433" cy="5909066"/>
            <a:chOff x="0" y="0"/>
            <a:chExt cx="6852577" cy="787875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852539" cy="7878755"/>
            </a:xfrm>
            <a:custGeom>
              <a:avLst/>
              <a:gdLst/>
              <a:ahLst/>
              <a:cxnLst/>
              <a:rect l="l" t="t" r="r" b="b"/>
              <a:pathLst>
                <a:path w="6852539" h="7878755">
                  <a:moveTo>
                    <a:pt x="0" y="0"/>
                  </a:moveTo>
                  <a:lnTo>
                    <a:pt x="6852539" y="0"/>
                  </a:lnTo>
                  <a:lnTo>
                    <a:pt x="6852539" y="7878755"/>
                  </a:lnTo>
                  <a:lnTo>
                    <a:pt x="0" y="7878755"/>
                  </a:lnTo>
                  <a:close/>
                </a:path>
              </a:pathLst>
            </a:custGeom>
            <a:solidFill>
              <a:srgbClr val="A9E4FE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12192000" y="2608240"/>
            <a:ext cx="5139433" cy="5909066"/>
            <a:chOff x="0" y="0"/>
            <a:chExt cx="6852577" cy="787875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852539" cy="7878755"/>
            </a:xfrm>
            <a:custGeom>
              <a:avLst/>
              <a:gdLst/>
              <a:ahLst/>
              <a:cxnLst/>
              <a:rect l="l" t="t" r="r" b="b"/>
              <a:pathLst>
                <a:path w="6852539" h="7878755">
                  <a:moveTo>
                    <a:pt x="0" y="0"/>
                  </a:moveTo>
                  <a:lnTo>
                    <a:pt x="6852539" y="0"/>
                  </a:lnTo>
                  <a:lnTo>
                    <a:pt x="6852539" y="7878755"/>
                  </a:lnTo>
                  <a:lnTo>
                    <a:pt x="0" y="7878755"/>
                  </a:lnTo>
                  <a:close/>
                </a:path>
              </a:pathLst>
            </a:custGeom>
            <a:solidFill>
              <a:srgbClr val="A9E4FE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385036" y="1489710"/>
            <a:ext cx="3966467" cy="150809"/>
          </a:xfrm>
          <a:custGeom>
            <a:avLst/>
            <a:gdLst/>
            <a:ahLst/>
            <a:cxnLst/>
            <a:rect l="l" t="t" r="r" b="b"/>
            <a:pathLst>
              <a:path w="3966467" h="150809">
                <a:moveTo>
                  <a:pt x="0" y="0"/>
                </a:moveTo>
                <a:lnTo>
                  <a:pt x="3966467" y="0"/>
                </a:lnTo>
                <a:lnTo>
                  <a:pt x="3966467" y="150809"/>
                </a:lnTo>
                <a:lnTo>
                  <a:pt x="0" y="15080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458" b="-458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4686435" y="738236"/>
            <a:ext cx="9084247" cy="1416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39"/>
              </a:lnSpc>
            </a:pPr>
            <a:r>
              <a:rPr lang="en-US" sz="7528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Problem </a:t>
            </a:r>
            <a:r>
              <a:rPr lang="en-US" sz="752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Statement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68148" y="3828828"/>
            <a:ext cx="4708137" cy="55156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Unplanned shutdowns disrupt production and increase losses.</a:t>
            </a:r>
          </a:p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Maintenance is either too early (wasteful) or too late (risk of failure).</a:t>
            </a:r>
          </a:p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Lack of data-driven insights leads to inefficient resource allocation.</a:t>
            </a:r>
          </a:p>
          <a:p>
            <a:pPr algn="l">
              <a:lnSpc>
                <a:spcPts val="3651"/>
              </a:lnSpc>
            </a:pPr>
            <a:endParaRPr lang="en-US" sz="2610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algn="l">
              <a:lnSpc>
                <a:spcPts val="3651"/>
              </a:lnSpc>
            </a:pPr>
            <a:endParaRPr lang="en-US" sz="2610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761940" y="2761820"/>
            <a:ext cx="4706970" cy="848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0"/>
              </a:lnSpc>
            </a:pPr>
            <a:r>
              <a:rPr lang="en-US" sz="270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Why Existing Methods Fall Short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378433" y="2704670"/>
            <a:ext cx="4823717" cy="981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0"/>
              </a:lnSpc>
            </a:pPr>
            <a:r>
              <a:rPr lang="en-US" sz="2707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The Gap in Current Maintenance Systems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9098" y="2746793"/>
            <a:ext cx="4708137" cy="9793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89"/>
              </a:lnSpc>
            </a:pPr>
            <a:r>
              <a:rPr lang="en-US" sz="2708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Consequences of Ignoring Predictive Maintenance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775794" y="3524620"/>
            <a:ext cx="4736412" cy="50584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Reactive or scheduled maintenance cannot predict failures in advance.</a:t>
            </a:r>
          </a:p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Manual inspection and rule-based systems lack accuracy and scalability.</a:t>
            </a:r>
          </a:p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Sensor data is complex and time-based, so AI is needed to interpret it.</a:t>
            </a:r>
          </a:p>
          <a:p>
            <a:pPr algn="l">
              <a:lnSpc>
                <a:spcPts val="3651"/>
              </a:lnSpc>
            </a:pPr>
            <a:endParaRPr lang="en-US" sz="2610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2393511" y="3630844"/>
            <a:ext cx="4736412" cy="36868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No unified AI framework for RUL estimation.</a:t>
            </a:r>
          </a:p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Poor integration of models with alerts and visuals.</a:t>
            </a:r>
          </a:p>
          <a:p>
            <a:pPr marL="563499" lvl="1" indent="-281750" algn="l">
              <a:lnSpc>
                <a:spcPts val="3651"/>
              </a:lnSpc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Need for a reliable, automated maintenance prediction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9258300"/>
            <a:ext cx="18941525" cy="3086100"/>
            <a:chOff x="0" y="0"/>
            <a:chExt cx="4988714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8714" cy="812800"/>
            </a:xfrm>
            <a:custGeom>
              <a:avLst/>
              <a:gdLst/>
              <a:ahLst/>
              <a:cxnLst/>
              <a:rect l="l" t="t" r="r" b="b"/>
              <a:pathLst>
                <a:path w="4988714" h="812800">
                  <a:moveTo>
                    <a:pt x="0" y="0"/>
                  </a:moveTo>
                  <a:lnTo>
                    <a:pt x="4988714" y="0"/>
                  </a:lnTo>
                  <a:lnTo>
                    <a:pt x="498871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A0E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76200"/>
              <a:ext cx="4988714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23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7712195" y="9883016"/>
            <a:ext cx="9525" cy="235582"/>
          </a:xfrm>
          <a:custGeom>
            <a:avLst/>
            <a:gdLst/>
            <a:ahLst/>
            <a:cxnLst/>
            <a:rect l="l" t="t" r="r" b="b"/>
            <a:pathLst>
              <a:path w="9525" h="235582">
                <a:moveTo>
                  <a:pt x="0" y="0"/>
                </a:moveTo>
                <a:lnTo>
                  <a:pt x="9525" y="0"/>
                </a:lnTo>
                <a:lnTo>
                  <a:pt x="9525" y="235582"/>
                </a:lnTo>
                <a:lnTo>
                  <a:pt x="0" y="23558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-48932" r="-48932"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328327" y="217494"/>
            <a:ext cx="1247775" cy="1123950"/>
            <a:chOff x="0" y="0"/>
            <a:chExt cx="1663700" cy="1498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63700" cy="1498600"/>
            </a:xfrm>
            <a:custGeom>
              <a:avLst/>
              <a:gdLst/>
              <a:ahLst/>
              <a:cxnLst/>
              <a:rect l="l" t="t" r="r" b="b"/>
              <a:pathLst>
                <a:path w="1663700" h="1498600">
                  <a:moveTo>
                    <a:pt x="0" y="0"/>
                  </a:moveTo>
                  <a:lnTo>
                    <a:pt x="1663700" y="0"/>
                  </a:lnTo>
                  <a:lnTo>
                    <a:pt x="1663700" y="1498600"/>
                  </a:lnTo>
                  <a:lnTo>
                    <a:pt x="0" y="1498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4488" r="-104488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>
            <a:off x="-63503" y="1503998"/>
            <a:ext cx="4010530" cy="150809"/>
          </a:xfrm>
          <a:custGeom>
            <a:avLst/>
            <a:gdLst/>
            <a:ahLst/>
            <a:cxnLst/>
            <a:rect l="l" t="t" r="r" b="b"/>
            <a:pathLst>
              <a:path w="4010530" h="150809">
                <a:moveTo>
                  <a:pt x="0" y="0"/>
                </a:moveTo>
                <a:lnTo>
                  <a:pt x="4010530" y="0"/>
                </a:lnTo>
                <a:lnTo>
                  <a:pt x="4010530" y="150809"/>
                </a:lnTo>
                <a:lnTo>
                  <a:pt x="0" y="1508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t="-414" b="-414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85036" y="1489710"/>
            <a:ext cx="3966467" cy="150809"/>
          </a:xfrm>
          <a:custGeom>
            <a:avLst/>
            <a:gdLst/>
            <a:ahLst/>
            <a:cxnLst/>
            <a:rect l="l" t="t" r="r" b="b"/>
            <a:pathLst>
              <a:path w="3966467" h="150809">
                <a:moveTo>
                  <a:pt x="0" y="0"/>
                </a:moveTo>
                <a:lnTo>
                  <a:pt x="3966467" y="0"/>
                </a:lnTo>
                <a:lnTo>
                  <a:pt x="3966467" y="150809"/>
                </a:lnTo>
                <a:lnTo>
                  <a:pt x="0" y="15080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t="-458" b="-458"/>
            </a:stretch>
          </a:blipFill>
        </p:spPr>
      </p:sp>
      <p:sp>
        <p:nvSpPr>
          <p:cNvPr id="10" name="AutoShape 10"/>
          <p:cNvSpPr/>
          <p:nvPr/>
        </p:nvSpPr>
        <p:spPr>
          <a:xfrm>
            <a:off x="8735001" y="7313060"/>
            <a:ext cx="2104363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1" name="Freeform 11"/>
          <p:cNvSpPr/>
          <p:nvPr/>
        </p:nvSpPr>
        <p:spPr>
          <a:xfrm>
            <a:off x="1921959" y="6198426"/>
            <a:ext cx="1486039" cy="1645848"/>
          </a:xfrm>
          <a:custGeom>
            <a:avLst/>
            <a:gdLst/>
            <a:ahLst/>
            <a:cxnLst/>
            <a:rect l="l" t="t" r="r" b="b"/>
            <a:pathLst>
              <a:path w="1486039" h="1645848">
                <a:moveTo>
                  <a:pt x="0" y="0"/>
                </a:moveTo>
                <a:lnTo>
                  <a:pt x="1486040" y="0"/>
                </a:lnTo>
                <a:lnTo>
                  <a:pt x="1486040" y="1645848"/>
                </a:lnTo>
                <a:lnTo>
                  <a:pt x="0" y="164584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274653" y="6224061"/>
            <a:ext cx="1648401" cy="1648401"/>
          </a:xfrm>
          <a:custGeom>
            <a:avLst/>
            <a:gdLst/>
            <a:ahLst/>
            <a:cxnLst/>
            <a:rect l="l" t="t" r="r" b="b"/>
            <a:pathLst>
              <a:path w="1648401" h="1648401">
                <a:moveTo>
                  <a:pt x="0" y="0"/>
                </a:moveTo>
                <a:lnTo>
                  <a:pt x="1648402" y="0"/>
                </a:lnTo>
                <a:lnTo>
                  <a:pt x="1648402" y="1648402"/>
                </a:lnTo>
                <a:lnTo>
                  <a:pt x="0" y="164840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1268162" y="6256315"/>
            <a:ext cx="1616148" cy="1616148"/>
          </a:xfrm>
          <a:custGeom>
            <a:avLst/>
            <a:gdLst/>
            <a:ahLst/>
            <a:cxnLst/>
            <a:rect l="l" t="t" r="r" b="b"/>
            <a:pathLst>
              <a:path w="1616148" h="1616148">
                <a:moveTo>
                  <a:pt x="0" y="0"/>
                </a:moveTo>
                <a:lnTo>
                  <a:pt x="1616148" y="0"/>
                </a:lnTo>
                <a:lnTo>
                  <a:pt x="1616148" y="1616148"/>
                </a:lnTo>
                <a:lnTo>
                  <a:pt x="0" y="1616148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5735722" y="6383434"/>
            <a:ext cx="1814799" cy="1580525"/>
          </a:xfrm>
          <a:custGeom>
            <a:avLst/>
            <a:gdLst/>
            <a:ahLst/>
            <a:cxnLst/>
            <a:rect l="l" t="t" r="r" b="b"/>
            <a:pathLst>
              <a:path w="1814799" h="1580525">
                <a:moveTo>
                  <a:pt x="0" y="0"/>
                </a:moveTo>
                <a:lnTo>
                  <a:pt x="1814799" y="0"/>
                </a:lnTo>
                <a:lnTo>
                  <a:pt x="1814799" y="1580525"/>
                </a:lnTo>
                <a:lnTo>
                  <a:pt x="0" y="1580525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5076468" y="737775"/>
            <a:ext cx="9084247" cy="1416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39"/>
              </a:lnSpc>
            </a:pPr>
            <a:r>
              <a:rPr lang="en-US" sz="7528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Project </a:t>
            </a:r>
            <a:r>
              <a:rPr lang="en-US" sz="752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Objective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115802" y="8178222"/>
            <a:ext cx="1292195" cy="6122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95"/>
              </a:lnSpc>
              <a:spcBef>
                <a:spcPct val="0"/>
              </a:spcBef>
            </a:pPr>
            <a:r>
              <a:rPr lang="en-US" sz="3639" b="1" dirty="0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Data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274653" y="8178222"/>
            <a:ext cx="2002036" cy="660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95"/>
              </a:lnSpc>
              <a:spcBef>
                <a:spcPct val="0"/>
              </a:spcBef>
            </a:pPr>
            <a:r>
              <a:rPr lang="en-US" sz="363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 Model 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892934" y="7840134"/>
            <a:ext cx="2366605" cy="1326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01"/>
              </a:lnSpc>
            </a:pPr>
            <a:r>
              <a:rPr lang="en-US" sz="3643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RUL </a:t>
            </a:r>
          </a:p>
          <a:p>
            <a:pPr algn="ctr">
              <a:lnSpc>
                <a:spcPts val="5101"/>
              </a:lnSpc>
              <a:spcBef>
                <a:spcPct val="0"/>
              </a:spcBef>
            </a:pPr>
            <a:r>
              <a:rPr lang="en-US" sz="3643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Prediction </a:t>
            </a:r>
          </a:p>
        </p:txBody>
      </p:sp>
      <p:sp>
        <p:nvSpPr>
          <p:cNvPr id="19" name="AutoShape 19"/>
          <p:cNvSpPr/>
          <p:nvPr/>
        </p:nvSpPr>
        <p:spPr>
          <a:xfrm>
            <a:off x="13259711" y="7294011"/>
            <a:ext cx="2104363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0" name="TextBox 20"/>
          <p:cNvSpPr txBox="1"/>
          <p:nvPr/>
        </p:nvSpPr>
        <p:spPr>
          <a:xfrm>
            <a:off x="16060875" y="8178222"/>
            <a:ext cx="1489645" cy="6122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95"/>
              </a:lnSpc>
              <a:spcBef>
                <a:spcPct val="0"/>
              </a:spcBef>
            </a:pPr>
            <a:r>
              <a:rPr lang="en-US" sz="3639" b="1" dirty="0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Alerts</a:t>
            </a:r>
          </a:p>
        </p:txBody>
      </p:sp>
      <p:sp>
        <p:nvSpPr>
          <p:cNvPr id="21" name="AutoShape 21"/>
          <p:cNvSpPr/>
          <p:nvPr/>
        </p:nvSpPr>
        <p:spPr>
          <a:xfrm>
            <a:off x="3408171" y="7274961"/>
            <a:ext cx="2104363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22" name="TextBox 22"/>
          <p:cNvSpPr txBox="1"/>
          <p:nvPr/>
        </p:nvSpPr>
        <p:spPr>
          <a:xfrm>
            <a:off x="0" y="2921445"/>
            <a:ext cx="18288000" cy="2314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3499" lvl="1" indent="-281750" algn="l">
              <a:lnSpc>
                <a:spcPts val="3653"/>
              </a:lnSpc>
              <a:spcBef>
                <a:spcPct val="0"/>
              </a:spcBef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Develop an AI-based predictive maintenance system capable of forecasting the Remaining Useful Life (RUL) of industrial components.</a:t>
            </a:r>
          </a:p>
          <a:p>
            <a:pPr marL="563499" lvl="1" indent="-281750" algn="l">
              <a:lnSpc>
                <a:spcPts val="3653"/>
              </a:lnSpc>
              <a:spcBef>
                <a:spcPct val="0"/>
              </a:spcBef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Enable data-driven maintenance decisions to reduce downtime and optimize asset utilization.</a:t>
            </a:r>
          </a:p>
          <a:p>
            <a:pPr marL="563499" lvl="1" indent="-281750" algn="l">
              <a:lnSpc>
                <a:spcPts val="3653"/>
              </a:lnSpc>
              <a:spcBef>
                <a:spcPct val="0"/>
              </a:spcBef>
              <a:buFont typeface="Arial"/>
              <a:buChar char="•"/>
            </a:pPr>
            <a:r>
              <a:rPr lang="en-US" sz="261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Leverage deep learning models (Bi-LSTM) to capture time-dependent degradation patterns from sensor data.</a:t>
            </a:r>
          </a:p>
          <a:p>
            <a:pPr algn="l">
              <a:lnSpc>
                <a:spcPts val="3653"/>
              </a:lnSpc>
              <a:spcBef>
                <a:spcPct val="0"/>
              </a:spcBef>
            </a:pPr>
            <a:endParaRPr lang="en-US" sz="2610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9258300"/>
            <a:ext cx="18941525" cy="3086100"/>
            <a:chOff x="0" y="0"/>
            <a:chExt cx="4988714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8714" cy="812800"/>
            </a:xfrm>
            <a:custGeom>
              <a:avLst/>
              <a:gdLst/>
              <a:ahLst/>
              <a:cxnLst/>
              <a:rect l="l" t="t" r="r" b="b"/>
              <a:pathLst>
                <a:path w="4988714" h="812800">
                  <a:moveTo>
                    <a:pt x="0" y="0"/>
                  </a:moveTo>
                  <a:lnTo>
                    <a:pt x="4988714" y="0"/>
                  </a:lnTo>
                  <a:lnTo>
                    <a:pt x="498871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A0E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76200"/>
              <a:ext cx="4988714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23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98225" y="2796546"/>
            <a:ext cx="17989775" cy="589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3"/>
              </a:lnSpc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Objective: Prepare data for sequence learning and RUL prediction.</a:t>
            </a:r>
          </a:p>
          <a:p>
            <a:pPr marL="797797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Loaded and cleaned the CMAPSS dataset (train_FD001_processed.csv).</a:t>
            </a:r>
          </a:p>
          <a:p>
            <a:pPr marL="797797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Generated 50-cycle rolling window sequences for each engine unit.</a:t>
            </a:r>
          </a:p>
          <a:p>
            <a:pPr marL="797797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Computed and clipped RUL values at 100 cycles to handle outliers.</a:t>
            </a:r>
          </a:p>
          <a:p>
            <a:pPr marL="797797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Split the data into train, validation, and test sets using GroupShuffleSplit to ensure unit-level separation.</a:t>
            </a:r>
          </a:p>
          <a:p>
            <a:pPr marL="797797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Created structured feature matrices (X, y, and groups) ready for model training.</a:t>
            </a:r>
          </a:p>
          <a:p>
            <a:pPr algn="l">
              <a:lnSpc>
                <a:spcPts val="5173"/>
              </a:lnSpc>
            </a:pPr>
            <a:endParaRPr lang="en-US" sz="369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98225" y="-81076"/>
            <a:ext cx="17989775" cy="275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39"/>
              </a:lnSpc>
            </a:pPr>
            <a:r>
              <a:rPr lang="en-US" sz="752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Milestone 1:</a:t>
            </a:r>
            <a:r>
              <a:rPr lang="en-US" sz="7528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Data Preparation &amp; Feature Engineering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998612"/>
            <a:ext cx="16361578" cy="19050"/>
          </a:xfrm>
          <a:custGeom>
            <a:avLst/>
            <a:gdLst/>
            <a:ahLst/>
            <a:cxnLst/>
            <a:rect l="l" t="t" r="r" b="b"/>
            <a:pathLst>
              <a:path w="16361578" h="19050">
                <a:moveTo>
                  <a:pt x="0" y="0"/>
                </a:moveTo>
                <a:lnTo>
                  <a:pt x="16361578" y="0"/>
                </a:lnTo>
                <a:lnTo>
                  <a:pt x="16361578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24989" b="-24989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712195" y="9883016"/>
            <a:ext cx="9525" cy="235582"/>
          </a:xfrm>
          <a:custGeom>
            <a:avLst/>
            <a:gdLst/>
            <a:ahLst/>
            <a:cxnLst/>
            <a:rect l="l" t="t" r="r" b="b"/>
            <a:pathLst>
              <a:path w="9525" h="235582">
                <a:moveTo>
                  <a:pt x="0" y="0"/>
                </a:moveTo>
                <a:lnTo>
                  <a:pt x="9525" y="0"/>
                </a:lnTo>
                <a:lnTo>
                  <a:pt x="9525" y="235582"/>
                </a:lnTo>
                <a:lnTo>
                  <a:pt x="0" y="23558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48932" r="-48932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328327" y="217494"/>
            <a:ext cx="1247775" cy="1123950"/>
            <a:chOff x="0" y="0"/>
            <a:chExt cx="1663700" cy="14986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63700" cy="1498600"/>
            </a:xfrm>
            <a:custGeom>
              <a:avLst/>
              <a:gdLst/>
              <a:ahLst/>
              <a:cxnLst/>
              <a:rect l="l" t="t" r="r" b="b"/>
              <a:pathLst>
                <a:path w="1663700" h="1498600">
                  <a:moveTo>
                    <a:pt x="0" y="0"/>
                  </a:moveTo>
                  <a:lnTo>
                    <a:pt x="1663700" y="0"/>
                  </a:lnTo>
                  <a:lnTo>
                    <a:pt x="1663700" y="1498600"/>
                  </a:lnTo>
                  <a:lnTo>
                    <a:pt x="0" y="1498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04488" r="-104488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-514350" y="9258300"/>
            <a:ext cx="18941525" cy="3086100"/>
            <a:chOff x="0" y="0"/>
            <a:chExt cx="4988714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988714" cy="812800"/>
            </a:xfrm>
            <a:custGeom>
              <a:avLst/>
              <a:gdLst/>
              <a:ahLst/>
              <a:cxnLst/>
              <a:rect l="l" t="t" r="r" b="b"/>
              <a:pathLst>
                <a:path w="4988714" h="812800">
                  <a:moveTo>
                    <a:pt x="0" y="0"/>
                  </a:moveTo>
                  <a:lnTo>
                    <a:pt x="4988714" y="0"/>
                  </a:lnTo>
                  <a:lnTo>
                    <a:pt x="498871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A0E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76200"/>
              <a:ext cx="4988714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23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608279" y="5162550"/>
            <a:ext cx="4491757" cy="0"/>
          </a:xfrm>
          <a:prstGeom prst="line">
            <a:avLst/>
          </a:prstGeom>
          <a:ln w="38100" cap="flat">
            <a:solidFill>
              <a:srgbClr val="000000">
                <a:alpha val="5882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13096162" y="5639086"/>
            <a:ext cx="5148469" cy="28575"/>
          </a:xfrm>
          <a:prstGeom prst="line">
            <a:avLst/>
          </a:prstGeom>
          <a:ln w="38100" cap="flat">
            <a:solidFill>
              <a:srgbClr val="000000">
                <a:alpha val="5882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Freeform 11"/>
          <p:cNvSpPr/>
          <p:nvPr/>
        </p:nvSpPr>
        <p:spPr>
          <a:xfrm>
            <a:off x="5390790" y="3085096"/>
            <a:ext cx="7414511" cy="4116809"/>
          </a:xfrm>
          <a:custGeom>
            <a:avLst/>
            <a:gdLst/>
            <a:ahLst/>
            <a:cxnLst/>
            <a:rect l="l" t="t" r="r" b="b"/>
            <a:pathLst>
              <a:path w="7414511" h="4116809">
                <a:moveTo>
                  <a:pt x="0" y="0"/>
                </a:moveTo>
                <a:lnTo>
                  <a:pt x="7414512" y="0"/>
                </a:lnTo>
                <a:lnTo>
                  <a:pt x="7414512" y="4116808"/>
                </a:lnTo>
                <a:lnTo>
                  <a:pt x="0" y="411680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97548" y="1896842"/>
            <a:ext cx="4876295" cy="1091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Bidirectional LSTM Architecture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1355" y="2929049"/>
            <a:ext cx="4528681" cy="217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086" lvl="1" indent="-192043" algn="l">
              <a:lnSpc>
                <a:spcPts val="2474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Learns forward and backward temporal dependencies for accurate RUL prediction.</a:t>
            </a:r>
          </a:p>
          <a:p>
            <a:pPr marL="384086" lvl="1" indent="-192043" algn="l">
              <a:lnSpc>
                <a:spcPts val="2475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Handles sequential degradation trends effectively using 50-cycle input sequences.</a:t>
            </a:r>
          </a:p>
          <a:p>
            <a:pPr algn="l">
              <a:lnSpc>
                <a:spcPts val="2474"/>
              </a:lnSpc>
            </a:pPr>
            <a:endParaRPr lang="en-US" sz="1779" b="1">
              <a:solidFill>
                <a:srgbClr val="00000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3383912" y="2872251"/>
            <a:ext cx="4645737" cy="2166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086" lvl="1" indent="-192043" algn="l">
              <a:lnSpc>
                <a:spcPts val="2474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Loss Function: Mean Squared Error (MSE)</a:t>
            </a:r>
          </a:p>
          <a:p>
            <a:pPr marL="384086" lvl="1" indent="-192043" algn="l">
              <a:lnSpc>
                <a:spcPts val="2474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Metrics: Root Mean Squared Error (RMSE), Mean Absolute Error (MAE)</a:t>
            </a:r>
          </a:p>
          <a:p>
            <a:pPr marL="384086" lvl="1" indent="-192043" algn="l">
              <a:lnSpc>
                <a:spcPts val="2475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Minimizes overfitting through dropout and bidirectional context learning.</a:t>
            </a:r>
          </a:p>
          <a:p>
            <a:pPr algn="l">
              <a:lnSpc>
                <a:spcPts val="2474"/>
              </a:lnSpc>
            </a:pPr>
            <a:endParaRPr lang="en-US" sz="1779" b="1">
              <a:solidFill>
                <a:srgbClr val="00000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096056" y="1896842"/>
            <a:ext cx="5331119" cy="10915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8"/>
              </a:lnSpc>
            </a:pPr>
            <a:r>
              <a:rPr lang="en-US" sz="299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Performance-Oriented Design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54856" y="187072"/>
            <a:ext cx="17989775" cy="1416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39"/>
              </a:lnSpc>
            </a:pPr>
            <a:r>
              <a:rPr lang="en-US" sz="752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Milestone 2: </a:t>
            </a:r>
            <a:r>
              <a:rPr lang="en-US" sz="7528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Model Development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44473" y="5362156"/>
            <a:ext cx="4876295" cy="10915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Optimized Training Pipeline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2087" y="6682285"/>
            <a:ext cx="4528681" cy="217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086" lvl="1" indent="-192043" algn="l">
              <a:lnSpc>
                <a:spcPts val="2474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Optimizer: Adam (learning rate = 0.0005)</a:t>
            </a:r>
          </a:p>
          <a:p>
            <a:pPr marL="384086" lvl="1" indent="-192043" algn="l">
              <a:lnSpc>
                <a:spcPts val="2474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Epochs: 150 | Batch Size: 64</a:t>
            </a:r>
          </a:p>
          <a:p>
            <a:pPr marL="384086" lvl="1" indent="-192043" algn="l">
              <a:lnSpc>
                <a:spcPts val="2475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Callbacks: EarlyStopping &amp; ModelCheckpoint for stable convergence</a:t>
            </a:r>
          </a:p>
          <a:p>
            <a:pPr algn="l">
              <a:lnSpc>
                <a:spcPts val="2474"/>
              </a:lnSpc>
            </a:pPr>
            <a:endParaRPr lang="en-US" sz="1779" b="1">
              <a:solidFill>
                <a:srgbClr val="00000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3383912" y="5837542"/>
            <a:ext cx="5331119" cy="560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8"/>
              </a:lnSpc>
            </a:pPr>
            <a:r>
              <a:rPr lang="en-US" sz="299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Outcome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383912" y="6682285"/>
            <a:ext cx="4645737" cy="2166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4086" lvl="1" indent="-192043" algn="l">
              <a:lnSpc>
                <a:spcPts val="2474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Successfully trained Bi-LSTM model with smooth loss convergence.</a:t>
            </a:r>
          </a:p>
          <a:p>
            <a:pPr marL="384086" lvl="1" indent="-192043" algn="l">
              <a:lnSpc>
                <a:spcPts val="2474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Model effectively learns temporal degradation patterns.</a:t>
            </a:r>
          </a:p>
          <a:p>
            <a:pPr marL="384086" lvl="1" indent="-192043" algn="l">
              <a:lnSpc>
                <a:spcPts val="2475"/>
              </a:lnSpc>
              <a:buFont typeface="Arial"/>
              <a:buChar char="•"/>
            </a:pPr>
            <a:r>
              <a:rPr lang="en-US" sz="177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Achieved high accuracy and robust generalization on unseen test data.</a:t>
            </a:r>
          </a:p>
          <a:p>
            <a:pPr algn="l">
              <a:lnSpc>
                <a:spcPts val="2474"/>
              </a:lnSpc>
            </a:pPr>
            <a:endParaRPr lang="en-US" sz="1779" b="1">
              <a:solidFill>
                <a:srgbClr val="00000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1764" y="5468110"/>
            <a:ext cx="3848011" cy="3562452"/>
            <a:chOff x="0" y="0"/>
            <a:chExt cx="5550510" cy="513860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550479" cy="5138609"/>
            </a:xfrm>
            <a:custGeom>
              <a:avLst/>
              <a:gdLst/>
              <a:ahLst/>
              <a:cxnLst/>
              <a:rect l="l" t="t" r="r" b="b"/>
              <a:pathLst>
                <a:path w="5550479" h="5138609">
                  <a:moveTo>
                    <a:pt x="0" y="0"/>
                  </a:moveTo>
                  <a:lnTo>
                    <a:pt x="5550479" y="0"/>
                  </a:lnTo>
                  <a:lnTo>
                    <a:pt x="5550479" y="5138609"/>
                  </a:lnTo>
                  <a:lnTo>
                    <a:pt x="0" y="5138609"/>
                  </a:lnTo>
                  <a:close/>
                </a:path>
              </a:pathLst>
            </a:custGeom>
            <a:solidFill>
              <a:srgbClr val="A9E4FE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-514350" y="9258300"/>
            <a:ext cx="18941525" cy="3086100"/>
            <a:chOff x="0" y="0"/>
            <a:chExt cx="4988714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988714" cy="812800"/>
            </a:xfrm>
            <a:custGeom>
              <a:avLst/>
              <a:gdLst/>
              <a:ahLst/>
              <a:cxnLst/>
              <a:rect l="l" t="t" r="r" b="b"/>
              <a:pathLst>
                <a:path w="4988714" h="812800">
                  <a:moveTo>
                    <a:pt x="0" y="0"/>
                  </a:moveTo>
                  <a:lnTo>
                    <a:pt x="4988714" y="0"/>
                  </a:lnTo>
                  <a:lnTo>
                    <a:pt x="498871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A0E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76200"/>
              <a:ext cx="4988714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23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321764" y="1496083"/>
            <a:ext cx="3848011" cy="3562452"/>
            <a:chOff x="0" y="0"/>
            <a:chExt cx="5550510" cy="513860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550479" cy="5138609"/>
            </a:xfrm>
            <a:custGeom>
              <a:avLst/>
              <a:gdLst/>
              <a:ahLst/>
              <a:cxnLst/>
              <a:rect l="l" t="t" r="r" b="b"/>
              <a:pathLst>
                <a:path w="5550479" h="5138609">
                  <a:moveTo>
                    <a:pt x="0" y="0"/>
                  </a:moveTo>
                  <a:lnTo>
                    <a:pt x="5550479" y="0"/>
                  </a:lnTo>
                  <a:lnTo>
                    <a:pt x="5550479" y="5138609"/>
                  </a:lnTo>
                  <a:lnTo>
                    <a:pt x="0" y="5138609"/>
                  </a:lnTo>
                  <a:close/>
                </a:path>
              </a:pathLst>
            </a:custGeom>
            <a:solidFill>
              <a:srgbClr val="A9E4FE"/>
            </a:solidFill>
          </p:spPr>
        </p:sp>
      </p:grpSp>
      <p:grpSp>
        <p:nvGrpSpPr>
          <p:cNvPr id="9" name="Group 9"/>
          <p:cNvGrpSpPr/>
          <p:nvPr/>
        </p:nvGrpSpPr>
        <p:grpSpPr>
          <a:xfrm>
            <a:off x="4418413" y="3763575"/>
            <a:ext cx="3848011" cy="3562452"/>
            <a:chOff x="0" y="0"/>
            <a:chExt cx="5550510" cy="513860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550479" cy="5138609"/>
            </a:xfrm>
            <a:custGeom>
              <a:avLst/>
              <a:gdLst/>
              <a:ahLst/>
              <a:cxnLst/>
              <a:rect l="l" t="t" r="r" b="b"/>
              <a:pathLst>
                <a:path w="5550479" h="5138609">
                  <a:moveTo>
                    <a:pt x="0" y="0"/>
                  </a:moveTo>
                  <a:lnTo>
                    <a:pt x="5550479" y="0"/>
                  </a:lnTo>
                  <a:lnTo>
                    <a:pt x="5550479" y="5138609"/>
                  </a:lnTo>
                  <a:lnTo>
                    <a:pt x="0" y="5138609"/>
                  </a:lnTo>
                  <a:close/>
                </a:path>
              </a:pathLst>
            </a:custGeom>
            <a:solidFill>
              <a:srgbClr val="A9E4FE"/>
            </a:solidFill>
          </p:spPr>
        </p:sp>
      </p:grpSp>
      <p:sp>
        <p:nvSpPr>
          <p:cNvPr id="11" name="Freeform 11"/>
          <p:cNvSpPr/>
          <p:nvPr/>
        </p:nvSpPr>
        <p:spPr>
          <a:xfrm>
            <a:off x="8514075" y="1660276"/>
            <a:ext cx="9312635" cy="5999956"/>
          </a:xfrm>
          <a:custGeom>
            <a:avLst/>
            <a:gdLst/>
            <a:ahLst/>
            <a:cxnLst/>
            <a:rect l="l" t="t" r="r" b="b"/>
            <a:pathLst>
              <a:path w="9312635" h="5999956">
                <a:moveTo>
                  <a:pt x="0" y="0"/>
                </a:moveTo>
                <a:lnTo>
                  <a:pt x="9312635" y="0"/>
                </a:lnTo>
                <a:lnTo>
                  <a:pt x="9312635" y="5999956"/>
                </a:lnTo>
                <a:lnTo>
                  <a:pt x="0" y="59999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-1077348" y="-22177"/>
            <a:ext cx="20978993" cy="1518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339"/>
              </a:lnSpc>
            </a:pPr>
            <a:r>
              <a:rPr lang="en-US" sz="8099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Milestone 3:</a:t>
            </a:r>
            <a:r>
              <a:rPr lang="en-US" sz="8099" b="1">
                <a:solidFill>
                  <a:srgbClr val="212F3E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</a:t>
            </a:r>
            <a:r>
              <a:rPr lang="en-US" sz="80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Model Evaluation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21764" y="1811235"/>
            <a:ext cx="3678196" cy="51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38"/>
              </a:lnSpc>
            </a:pPr>
            <a:r>
              <a:rPr lang="en-US" sz="2556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RMSE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21764" y="5750046"/>
            <a:ext cx="3678196" cy="476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22"/>
              </a:lnSpc>
            </a:pPr>
            <a:r>
              <a:rPr lang="en-US" sz="2356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MAE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03321" y="4042091"/>
            <a:ext cx="3678196" cy="4768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22"/>
              </a:lnSpc>
            </a:pPr>
            <a:r>
              <a:rPr lang="en-US" sz="2356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R²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8985" y="2488554"/>
            <a:ext cx="3773571" cy="24738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8"/>
              </a:lnSpc>
              <a:spcBef>
                <a:spcPct val="0"/>
              </a:spcBef>
            </a:pPr>
            <a:r>
              <a:rPr lang="en-US" sz="235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Measures the square root of the average squared differences between predicted and actual RUL values — penalizes large errors heavily.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87953" y="6485541"/>
            <a:ext cx="3715634" cy="2428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90"/>
              </a:lnSpc>
              <a:spcBef>
                <a:spcPct val="0"/>
              </a:spcBef>
            </a:pPr>
            <a:r>
              <a:rPr lang="en-US" sz="228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Represents the average of absolute differences between predicted and actual values — provides an easy-to-interpret measure of overall error.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418413" y="4775230"/>
            <a:ext cx="3773571" cy="2474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6"/>
              </a:lnSpc>
              <a:spcBef>
                <a:spcPct val="0"/>
              </a:spcBef>
            </a:pPr>
            <a:r>
              <a:rPr lang="en-US" sz="2356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Indicates how well the model explains the variance in actual RUL values — closer to 1 means stronger predictive accuracy.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144000" y="7793582"/>
            <a:ext cx="3556278" cy="1236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Final Test RMSE: 7.9447 </a:t>
            </a:r>
          </a:p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Final Test MAE: 5.3960 </a:t>
            </a:r>
          </a:p>
          <a:p>
            <a:pPr algn="l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Final Test R² Score: 0.9438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9258300"/>
            <a:ext cx="18941525" cy="3086100"/>
            <a:chOff x="0" y="0"/>
            <a:chExt cx="4988714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8714" cy="812800"/>
            </a:xfrm>
            <a:custGeom>
              <a:avLst/>
              <a:gdLst/>
              <a:ahLst/>
              <a:cxnLst/>
              <a:rect l="l" t="t" r="r" b="b"/>
              <a:pathLst>
                <a:path w="4988714" h="812800">
                  <a:moveTo>
                    <a:pt x="0" y="0"/>
                  </a:moveTo>
                  <a:lnTo>
                    <a:pt x="4988714" y="0"/>
                  </a:lnTo>
                  <a:lnTo>
                    <a:pt x="498871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A0E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76200"/>
              <a:ext cx="4988714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23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0" y="-285750"/>
            <a:ext cx="20978993" cy="29565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338"/>
              </a:lnSpc>
            </a:pPr>
            <a:r>
              <a:rPr lang="en-US" sz="8099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Milestone 4:</a:t>
            </a:r>
            <a:r>
              <a:rPr lang="en-US" sz="80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Risk Thresholding &amp; </a:t>
            </a:r>
          </a:p>
          <a:p>
            <a:pPr algn="l">
              <a:lnSpc>
                <a:spcPts val="11339"/>
              </a:lnSpc>
            </a:pPr>
            <a:r>
              <a:rPr lang="en-US" sz="8099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Alerts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390990" y="2640238"/>
            <a:ext cx="6165363" cy="2523128"/>
            <a:chOff x="0" y="0"/>
            <a:chExt cx="1608323" cy="65819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08323" cy="658194"/>
            </a:xfrm>
            <a:custGeom>
              <a:avLst/>
              <a:gdLst/>
              <a:ahLst/>
              <a:cxnLst/>
              <a:rect l="l" t="t" r="r" b="b"/>
              <a:pathLst>
                <a:path w="1608323" h="658194">
                  <a:moveTo>
                    <a:pt x="26370" y="0"/>
                  </a:moveTo>
                  <a:lnTo>
                    <a:pt x="1581953" y="0"/>
                  </a:lnTo>
                  <a:cubicBezTo>
                    <a:pt x="1596516" y="0"/>
                    <a:pt x="1608323" y="11806"/>
                    <a:pt x="1608323" y="26370"/>
                  </a:cubicBezTo>
                  <a:lnTo>
                    <a:pt x="1608323" y="631824"/>
                  </a:lnTo>
                  <a:cubicBezTo>
                    <a:pt x="1608323" y="638818"/>
                    <a:pt x="1605544" y="645525"/>
                    <a:pt x="1600599" y="650470"/>
                  </a:cubicBezTo>
                  <a:cubicBezTo>
                    <a:pt x="1595654" y="655416"/>
                    <a:pt x="1588946" y="658194"/>
                    <a:pt x="1581953" y="658194"/>
                  </a:cubicBezTo>
                  <a:lnTo>
                    <a:pt x="26370" y="658194"/>
                  </a:lnTo>
                  <a:cubicBezTo>
                    <a:pt x="19376" y="658194"/>
                    <a:pt x="12669" y="655416"/>
                    <a:pt x="7724" y="650470"/>
                  </a:cubicBezTo>
                  <a:cubicBezTo>
                    <a:pt x="2778" y="645525"/>
                    <a:pt x="0" y="638818"/>
                    <a:pt x="0" y="631824"/>
                  </a:cubicBezTo>
                  <a:lnTo>
                    <a:pt x="0" y="26370"/>
                  </a:lnTo>
                  <a:cubicBezTo>
                    <a:pt x="0" y="19376"/>
                    <a:pt x="2778" y="12669"/>
                    <a:pt x="7724" y="7724"/>
                  </a:cubicBezTo>
                  <a:cubicBezTo>
                    <a:pt x="12669" y="2778"/>
                    <a:pt x="19376" y="0"/>
                    <a:pt x="26370" y="0"/>
                  </a:cubicBezTo>
                  <a:close/>
                </a:path>
              </a:pathLst>
            </a:custGeom>
            <a:solidFill>
              <a:srgbClr val="00A0E5"/>
            </a:solidFill>
            <a:ln w="1143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38100"/>
              <a:ext cx="1608323" cy="6200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55"/>
                </a:lnSpc>
              </a:pPr>
              <a:r>
                <a:rPr lang="en-US" sz="3699">
                  <a:solidFill>
                    <a:srgbClr val="000000"/>
                  </a:solidFill>
                  <a:latin typeface="Arial MT Pro"/>
                  <a:ea typeface="Arial MT Pro"/>
                  <a:cs typeface="Arial MT Pro"/>
                  <a:sym typeface="Arial MT Pro"/>
                </a:rPr>
                <a:t>Objective: Translate RUL predictions into actionable maintenance alerts.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756646" y="5233653"/>
            <a:ext cx="5458428" cy="1059180"/>
            <a:chOff x="0" y="0"/>
            <a:chExt cx="1423908" cy="27630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423908" cy="276302"/>
            </a:xfrm>
            <a:custGeom>
              <a:avLst/>
              <a:gdLst/>
              <a:ahLst/>
              <a:cxnLst/>
              <a:rect l="l" t="t" r="r" b="b"/>
              <a:pathLst>
                <a:path w="1423908" h="276302">
                  <a:moveTo>
                    <a:pt x="29785" y="0"/>
                  </a:moveTo>
                  <a:lnTo>
                    <a:pt x="1394123" y="0"/>
                  </a:lnTo>
                  <a:cubicBezTo>
                    <a:pt x="1410573" y="0"/>
                    <a:pt x="1423908" y="13335"/>
                    <a:pt x="1423908" y="29785"/>
                  </a:cubicBezTo>
                  <a:lnTo>
                    <a:pt x="1423908" y="246517"/>
                  </a:lnTo>
                  <a:cubicBezTo>
                    <a:pt x="1423908" y="262967"/>
                    <a:pt x="1410573" y="276302"/>
                    <a:pt x="1394123" y="276302"/>
                  </a:cubicBezTo>
                  <a:lnTo>
                    <a:pt x="29785" y="276302"/>
                  </a:lnTo>
                  <a:cubicBezTo>
                    <a:pt x="13335" y="276302"/>
                    <a:pt x="0" y="262967"/>
                    <a:pt x="0" y="246517"/>
                  </a:cubicBezTo>
                  <a:lnTo>
                    <a:pt x="0" y="29785"/>
                  </a:lnTo>
                  <a:cubicBezTo>
                    <a:pt x="0" y="13335"/>
                    <a:pt x="13335" y="0"/>
                    <a:pt x="2978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0E5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28575"/>
              <a:ext cx="1423908" cy="247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3000">
                  <a:solidFill>
                    <a:srgbClr val="000000"/>
                  </a:solidFill>
                  <a:latin typeface="Arial MT Pro"/>
                  <a:ea typeface="Arial MT Pro"/>
                  <a:cs typeface="Arial MT Pro"/>
                  <a:sym typeface="Arial MT Pro"/>
                </a:rPr>
                <a:t>Warning Zone: RUL &lt; 40 cycles ⚠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44458" y="6681243"/>
            <a:ext cx="5458428" cy="1059180"/>
            <a:chOff x="0" y="0"/>
            <a:chExt cx="1423908" cy="27630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423908" cy="276302"/>
            </a:xfrm>
            <a:custGeom>
              <a:avLst/>
              <a:gdLst/>
              <a:ahLst/>
              <a:cxnLst/>
              <a:rect l="l" t="t" r="r" b="b"/>
              <a:pathLst>
                <a:path w="1423908" h="276302">
                  <a:moveTo>
                    <a:pt x="29785" y="0"/>
                  </a:moveTo>
                  <a:lnTo>
                    <a:pt x="1394123" y="0"/>
                  </a:lnTo>
                  <a:cubicBezTo>
                    <a:pt x="1410573" y="0"/>
                    <a:pt x="1423908" y="13335"/>
                    <a:pt x="1423908" y="29785"/>
                  </a:cubicBezTo>
                  <a:lnTo>
                    <a:pt x="1423908" y="246517"/>
                  </a:lnTo>
                  <a:cubicBezTo>
                    <a:pt x="1423908" y="262967"/>
                    <a:pt x="1410573" y="276302"/>
                    <a:pt x="1394123" y="276302"/>
                  </a:cubicBezTo>
                  <a:lnTo>
                    <a:pt x="29785" y="276302"/>
                  </a:lnTo>
                  <a:cubicBezTo>
                    <a:pt x="13335" y="276302"/>
                    <a:pt x="0" y="262967"/>
                    <a:pt x="0" y="246517"/>
                  </a:cubicBezTo>
                  <a:lnTo>
                    <a:pt x="0" y="29785"/>
                  </a:lnTo>
                  <a:cubicBezTo>
                    <a:pt x="0" y="13335"/>
                    <a:pt x="13335" y="0"/>
                    <a:pt x="2978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0E5"/>
              </a:solidFill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28575"/>
              <a:ext cx="1423908" cy="247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3000">
                  <a:solidFill>
                    <a:srgbClr val="000000"/>
                  </a:solidFill>
                  <a:latin typeface="Arial MT Pro"/>
                  <a:ea typeface="Arial MT Pro"/>
                  <a:cs typeface="Arial MT Pro"/>
                  <a:sym typeface="Arial MT Pro"/>
                </a:rPr>
                <a:t>Critical Zone: RUL &lt; 20 cycles 🚨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44458" y="8130948"/>
            <a:ext cx="5458428" cy="1059180"/>
            <a:chOff x="0" y="0"/>
            <a:chExt cx="1423908" cy="276302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23908" cy="276302"/>
            </a:xfrm>
            <a:custGeom>
              <a:avLst/>
              <a:gdLst/>
              <a:ahLst/>
              <a:cxnLst/>
              <a:rect l="l" t="t" r="r" b="b"/>
              <a:pathLst>
                <a:path w="1423908" h="276302">
                  <a:moveTo>
                    <a:pt x="29785" y="0"/>
                  </a:moveTo>
                  <a:lnTo>
                    <a:pt x="1394123" y="0"/>
                  </a:lnTo>
                  <a:cubicBezTo>
                    <a:pt x="1410573" y="0"/>
                    <a:pt x="1423908" y="13335"/>
                    <a:pt x="1423908" y="29785"/>
                  </a:cubicBezTo>
                  <a:lnTo>
                    <a:pt x="1423908" y="246517"/>
                  </a:lnTo>
                  <a:cubicBezTo>
                    <a:pt x="1423908" y="262967"/>
                    <a:pt x="1410573" y="276302"/>
                    <a:pt x="1394123" y="276302"/>
                  </a:cubicBezTo>
                  <a:lnTo>
                    <a:pt x="29785" y="276302"/>
                  </a:lnTo>
                  <a:cubicBezTo>
                    <a:pt x="13335" y="276302"/>
                    <a:pt x="0" y="262967"/>
                    <a:pt x="0" y="246517"/>
                  </a:cubicBezTo>
                  <a:lnTo>
                    <a:pt x="0" y="29785"/>
                  </a:lnTo>
                  <a:cubicBezTo>
                    <a:pt x="0" y="13335"/>
                    <a:pt x="13335" y="0"/>
                    <a:pt x="2978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00A0E5"/>
              </a:solidFill>
              <a:prstDash val="solid"/>
              <a:round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28575"/>
              <a:ext cx="1423908" cy="2477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0"/>
                </a:lnSpc>
              </a:pPr>
              <a:r>
                <a:rPr lang="en-US" sz="3000">
                  <a:solidFill>
                    <a:srgbClr val="000000"/>
                  </a:solidFill>
                  <a:latin typeface="Arial MT Pro"/>
                  <a:ea typeface="Arial MT Pro"/>
                  <a:cs typeface="Arial MT Pro"/>
                  <a:sym typeface="Arial MT Pro"/>
                </a:rPr>
                <a:t>Predicted alerts help prioritize maintenance.</a:t>
              </a:r>
            </a:p>
          </p:txBody>
        </p:sp>
      </p:grpSp>
      <p:sp>
        <p:nvSpPr>
          <p:cNvPr id="18" name="Freeform 18">
            <a:hlinkClick r:id="rId2" tooltip="https://drive.google.com/file/d/1gF84aYouxVj9ViKbwnLlQ1arFnah0AYJ/view?usp=sharing"/>
          </p:cNvPr>
          <p:cNvSpPr/>
          <p:nvPr/>
        </p:nvSpPr>
        <p:spPr>
          <a:xfrm>
            <a:off x="8249391" y="1028700"/>
            <a:ext cx="7294994" cy="4346655"/>
          </a:xfrm>
          <a:custGeom>
            <a:avLst/>
            <a:gdLst/>
            <a:ahLst/>
            <a:cxnLst/>
            <a:rect l="l" t="t" r="r" b="b"/>
            <a:pathLst>
              <a:path w="7294994" h="4346655">
                <a:moveTo>
                  <a:pt x="0" y="0"/>
                </a:moveTo>
                <a:lnTo>
                  <a:pt x="7294994" y="0"/>
                </a:lnTo>
                <a:lnTo>
                  <a:pt x="7294994" y="4346655"/>
                </a:lnTo>
                <a:lnTo>
                  <a:pt x="0" y="43466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9" name="Freeform 19">
            <a:hlinkClick r:id="rId4" tooltip="https://drive.google.com/file/d/13YBAgla-5iUgsVtkam6lrZkMAoIz-xf8/view?usp=sharing"/>
          </p:cNvPr>
          <p:cNvSpPr/>
          <p:nvPr/>
        </p:nvSpPr>
        <p:spPr>
          <a:xfrm>
            <a:off x="8468785" y="5577404"/>
            <a:ext cx="7400655" cy="3680896"/>
          </a:xfrm>
          <a:custGeom>
            <a:avLst/>
            <a:gdLst/>
            <a:ahLst/>
            <a:cxnLst/>
            <a:rect l="l" t="t" r="r" b="b"/>
            <a:pathLst>
              <a:path w="7400655" h="3680896">
                <a:moveTo>
                  <a:pt x="0" y="0"/>
                </a:moveTo>
                <a:lnTo>
                  <a:pt x="7400655" y="0"/>
                </a:lnTo>
                <a:lnTo>
                  <a:pt x="7400655" y="3680896"/>
                </a:lnTo>
                <a:lnTo>
                  <a:pt x="0" y="36808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36149" y="0"/>
            <a:ext cx="3959323" cy="10287000"/>
            <a:chOff x="0" y="0"/>
            <a:chExt cx="1042785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42785" cy="2709333"/>
            </a:xfrm>
            <a:custGeom>
              <a:avLst/>
              <a:gdLst/>
              <a:ahLst/>
              <a:cxnLst/>
              <a:rect l="l" t="t" r="r" b="b"/>
              <a:pathLst>
                <a:path w="1042785" h="2709333">
                  <a:moveTo>
                    <a:pt x="36956" y="0"/>
                  </a:moveTo>
                  <a:lnTo>
                    <a:pt x="1005828" y="0"/>
                  </a:lnTo>
                  <a:cubicBezTo>
                    <a:pt x="1015630" y="0"/>
                    <a:pt x="1025030" y="3894"/>
                    <a:pt x="1031960" y="10824"/>
                  </a:cubicBezTo>
                  <a:cubicBezTo>
                    <a:pt x="1038891" y="17755"/>
                    <a:pt x="1042785" y="27155"/>
                    <a:pt x="1042785" y="36956"/>
                  </a:cubicBezTo>
                  <a:lnTo>
                    <a:pt x="1042785" y="2672377"/>
                  </a:lnTo>
                  <a:cubicBezTo>
                    <a:pt x="1042785" y="2682178"/>
                    <a:pt x="1038891" y="2691578"/>
                    <a:pt x="1031960" y="2698509"/>
                  </a:cubicBezTo>
                  <a:cubicBezTo>
                    <a:pt x="1025030" y="2705440"/>
                    <a:pt x="1015630" y="2709333"/>
                    <a:pt x="1005828" y="2709333"/>
                  </a:cubicBezTo>
                  <a:lnTo>
                    <a:pt x="36956" y="2709333"/>
                  </a:lnTo>
                  <a:cubicBezTo>
                    <a:pt x="16546" y="2709333"/>
                    <a:pt x="0" y="2692787"/>
                    <a:pt x="0" y="2672377"/>
                  </a:cubicBezTo>
                  <a:lnTo>
                    <a:pt x="0" y="36956"/>
                  </a:lnTo>
                  <a:cubicBezTo>
                    <a:pt x="0" y="27155"/>
                    <a:pt x="3894" y="17755"/>
                    <a:pt x="10824" y="10824"/>
                  </a:cubicBezTo>
                  <a:cubicBezTo>
                    <a:pt x="17755" y="3894"/>
                    <a:pt x="27155" y="0"/>
                    <a:pt x="36956" y="0"/>
                  </a:cubicBezTo>
                  <a:close/>
                </a:path>
              </a:pathLst>
            </a:custGeom>
            <a:solidFill>
              <a:srgbClr val="141223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04278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6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390334" y="3301978"/>
            <a:ext cx="2701403" cy="850402"/>
            <a:chOff x="0" y="0"/>
            <a:chExt cx="711481" cy="22397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11481" cy="223974"/>
            </a:xfrm>
            <a:custGeom>
              <a:avLst/>
              <a:gdLst/>
              <a:ahLst/>
              <a:cxnLst/>
              <a:rect l="l" t="t" r="r" b="b"/>
              <a:pathLst>
                <a:path w="711481" h="223974">
                  <a:moveTo>
                    <a:pt x="58034" y="0"/>
                  </a:moveTo>
                  <a:lnTo>
                    <a:pt x="653447" y="0"/>
                  </a:lnTo>
                  <a:cubicBezTo>
                    <a:pt x="685498" y="0"/>
                    <a:pt x="711481" y="25983"/>
                    <a:pt x="711481" y="58034"/>
                  </a:cubicBezTo>
                  <a:lnTo>
                    <a:pt x="711481" y="165940"/>
                  </a:lnTo>
                  <a:cubicBezTo>
                    <a:pt x="711481" y="181332"/>
                    <a:pt x="705366" y="196093"/>
                    <a:pt x="694483" y="206976"/>
                  </a:cubicBezTo>
                  <a:cubicBezTo>
                    <a:pt x="683599" y="217860"/>
                    <a:pt x="668838" y="223974"/>
                    <a:pt x="653447" y="223974"/>
                  </a:cubicBezTo>
                  <a:lnTo>
                    <a:pt x="58034" y="223974"/>
                  </a:lnTo>
                  <a:cubicBezTo>
                    <a:pt x="25983" y="223974"/>
                    <a:pt x="0" y="197991"/>
                    <a:pt x="0" y="165940"/>
                  </a:cubicBezTo>
                  <a:lnTo>
                    <a:pt x="0" y="58034"/>
                  </a:lnTo>
                  <a:cubicBezTo>
                    <a:pt x="0" y="25983"/>
                    <a:pt x="25983" y="0"/>
                    <a:pt x="58034" y="0"/>
                  </a:cubicBezTo>
                  <a:close/>
                </a:path>
              </a:pathLst>
            </a:custGeom>
            <a:solidFill>
              <a:srgbClr val="ECECEC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711481" cy="2620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617965" y="850764"/>
            <a:ext cx="138165" cy="86165"/>
          </a:xfrm>
          <a:custGeom>
            <a:avLst/>
            <a:gdLst/>
            <a:ahLst/>
            <a:cxnLst/>
            <a:rect l="l" t="t" r="r" b="b"/>
            <a:pathLst>
              <a:path w="138165" h="86165">
                <a:moveTo>
                  <a:pt x="0" y="0"/>
                </a:moveTo>
                <a:lnTo>
                  <a:pt x="138165" y="0"/>
                </a:lnTo>
                <a:lnTo>
                  <a:pt x="138165" y="86165"/>
                </a:lnTo>
                <a:lnTo>
                  <a:pt x="0" y="8616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50742" y="4346119"/>
            <a:ext cx="385354" cy="159440"/>
          </a:xfrm>
          <a:custGeom>
            <a:avLst/>
            <a:gdLst/>
            <a:ahLst/>
            <a:cxnLst/>
            <a:rect l="l" t="t" r="r" b="b"/>
            <a:pathLst>
              <a:path w="385354" h="159440">
                <a:moveTo>
                  <a:pt x="0" y="0"/>
                </a:moveTo>
                <a:lnTo>
                  <a:pt x="385354" y="0"/>
                </a:lnTo>
                <a:lnTo>
                  <a:pt x="385354" y="159441"/>
                </a:lnTo>
                <a:lnTo>
                  <a:pt x="0" y="1594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7847480">
            <a:off x="1704488" y="5498388"/>
            <a:ext cx="277862" cy="122259"/>
          </a:xfrm>
          <a:custGeom>
            <a:avLst/>
            <a:gdLst/>
            <a:ahLst/>
            <a:cxnLst/>
            <a:rect l="l" t="t" r="r" b="b"/>
            <a:pathLst>
              <a:path w="277862" h="122259">
                <a:moveTo>
                  <a:pt x="0" y="0"/>
                </a:moveTo>
                <a:lnTo>
                  <a:pt x="277862" y="0"/>
                </a:lnTo>
                <a:lnTo>
                  <a:pt x="277862" y="122259"/>
                </a:lnTo>
                <a:lnTo>
                  <a:pt x="0" y="12225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98342" y="3615585"/>
            <a:ext cx="239753" cy="223188"/>
          </a:xfrm>
          <a:custGeom>
            <a:avLst/>
            <a:gdLst/>
            <a:ahLst/>
            <a:cxnLst/>
            <a:rect l="l" t="t" r="r" b="b"/>
            <a:pathLst>
              <a:path w="239753" h="223188">
                <a:moveTo>
                  <a:pt x="0" y="0"/>
                </a:moveTo>
                <a:lnTo>
                  <a:pt x="239753" y="0"/>
                </a:lnTo>
                <a:lnTo>
                  <a:pt x="239753" y="223188"/>
                </a:lnTo>
                <a:lnTo>
                  <a:pt x="0" y="2231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698342" y="4866535"/>
            <a:ext cx="290154" cy="276965"/>
          </a:xfrm>
          <a:custGeom>
            <a:avLst/>
            <a:gdLst/>
            <a:ahLst/>
            <a:cxnLst/>
            <a:rect l="l" t="t" r="r" b="b"/>
            <a:pathLst>
              <a:path w="290154" h="276965">
                <a:moveTo>
                  <a:pt x="0" y="0"/>
                </a:moveTo>
                <a:lnTo>
                  <a:pt x="290154" y="0"/>
                </a:lnTo>
                <a:lnTo>
                  <a:pt x="290154" y="276965"/>
                </a:lnTo>
                <a:lnTo>
                  <a:pt x="0" y="27696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9304415" y="6139421"/>
            <a:ext cx="78843" cy="49169"/>
          </a:xfrm>
          <a:custGeom>
            <a:avLst/>
            <a:gdLst/>
            <a:ahLst/>
            <a:cxnLst/>
            <a:rect l="l" t="t" r="r" b="b"/>
            <a:pathLst>
              <a:path w="78843" h="49169">
                <a:moveTo>
                  <a:pt x="0" y="0"/>
                </a:moveTo>
                <a:lnTo>
                  <a:pt x="78842" y="0"/>
                </a:lnTo>
                <a:lnTo>
                  <a:pt x="78842" y="49169"/>
                </a:lnTo>
                <a:lnTo>
                  <a:pt x="0" y="4916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4" name="AutoShape 14"/>
          <p:cNvSpPr/>
          <p:nvPr/>
        </p:nvSpPr>
        <p:spPr>
          <a:xfrm>
            <a:off x="12360830" y="8852351"/>
            <a:ext cx="0" cy="244896"/>
          </a:xfrm>
          <a:prstGeom prst="line">
            <a:avLst/>
          </a:prstGeom>
          <a:ln w="9525" cap="rnd">
            <a:solidFill>
              <a:srgbClr val="D5D5D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>
            <a:off x="14764534" y="8864873"/>
            <a:ext cx="0" cy="244896"/>
          </a:xfrm>
          <a:prstGeom prst="line">
            <a:avLst/>
          </a:prstGeom>
          <a:ln w="9525" cap="rnd">
            <a:solidFill>
              <a:srgbClr val="D5D5D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 rot="5400000">
            <a:off x="15051893" y="6043268"/>
            <a:ext cx="78843" cy="49169"/>
          </a:xfrm>
          <a:custGeom>
            <a:avLst/>
            <a:gdLst/>
            <a:ahLst/>
            <a:cxnLst/>
            <a:rect l="l" t="t" r="r" b="b"/>
            <a:pathLst>
              <a:path w="78843" h="49169">
                <a:moveTo>
                  <a:pt x="0" y="0"/>
                </a:moveTo>
                <a:lnTo>
                  <a:pt x="78843" y="0"/>
                </a:lnTo>
                <a:lnTo>
                  <a:pt x="78843" y="49169"/>
                </a:lnTo>
                <a:lnTo>
                  <a:pt x="0" y="4916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 rot="-5400000">
            <a:off x="16280894" y="6043268"/>
            <a:ext cx="78843" cy="49169"/>
          </a:xfrm>
          <a:custGeom>
            <a:avLst/>
            <a:gdLst/>
            <a:ahLst/>
            <a:cxnLst/>
            <a:rect l="l" t="t" r="r" b="b"/>
            <a:pathLst>
              <a:path w="78843" h="49169">
                <a:moveTo>
                  <a:pt x="0" y="0"/>
                </a:moveTo>
                <a:lnTo>
                  <a:pt x="78843" y="0"/>
                </a:lnTo>
                <a:lnTo>
                  <a:pt x="78843" y="49169"/>
                </a:lnTo>
                <a:lnTo>
                  <a:pt x="0" y="4916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2308272" y="3546165"/>
            <a:ext cx="1804064" cy="2926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1755" b="1">
                <a:solidFill>
                  <a:srgbClr val="C940E5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1️⃣ Overview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287674" y="4287537"/>
            <a:ext cx="1500740" cy="248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48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2️⃣  Results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287674" y="4854179"/>
            <a:ext cx="1804064" cy="248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48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3️⃣Alerts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287674" y="5420821"/>
            <a:ext cx="1500740" cy="2480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79"/>
              </a:lnSpc>
            </a:pPr>
            <a:r>
              <a:rPr lang="en-US" sz="148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4️⃣Chatbot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137915" y="3467667"/>
            <a:ext cx="64294" cy="519024"/>
            <a:chOff x="0" y="0"/>
            <a:chExt cx="16933" cy="13669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933" cy="136698"/>
            </a:xfrm>
            <a:custGeom>
              <a:avLst/>
              <a:gdLst/>
              <a:ahLst/>
              <a:cxnLst/>
              <a:rect l="l" t="t" r="r" b="b"/>
              <a:pathLst>
                <a:path w="16933" h="136698">
                  <a:moveTo>
                    <a:pt x="8467" y="0"/>
                  </a:moveTo>
                  <a:lnTo>
                    <a:pt x="8467" y="0"/>
                  </a:lnTo>
                  <a:cubicBezTo>
                    <a:pt x="13143" y="0"/>
                    <a:pt x="16933" y="3791"/>
                    <a:pt x="16933" y="8467"/>
                  </a:cubicBezTo>
                  <a:lnTo>
                    <a:pt x="16933" y="128231"/>
                  </a:lnTo>
                  <a:cubicBezTo>
                    <a:pt x="16933" y="132907"/>
                    <a:pt x="13143" y="136698"/>
                    <a:pt x="8467" y="136698"/>
                  </a:cubicBezTo>
                  <a:lnTo>
                    <a:pt x="8467" y="136698"/>
                  </a:lnTo>
                  <a:cubicBezTo>
                    <a:pt x="3791" y="136698"/>
                    <a:pt x="0" y="132907"/>
                    <a:pt x="0" y="128231"/>
                  </a:cubicBezTo>
                  <a:lnTo>
                    <a:pt x="0" y="8467"/>
                  </a:lnTo>
                  <a:cubicBezTo>
                    <a:pt x="0" y="3791"/>
                    <a:pt x="3791" y="0"/>
                    <a:pt x="8467" y="0"/>
                  </a:cubicBezTo>
                  <a:close/>
                </a:path>
              </a:pathLst>
            </a:custGeom>
            <a:solidFill>
              <a:srgbClr val="ECECEC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16933" cy="17479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46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818219" y="6386627"/>
            <a:ext cx="1720661" cy="3667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6"/>
              </a:lnSpc>
              <a:spcBef>
                <a:spcPct val="0"/>
              </a:spcBef>
            </a:pPr>
            <a:r>
              <a:rPr lang="en-US" sz="1890" spc="-9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📊 Quick Stats</a:t>
            </a:r>
          </a:p>
          <a:p>
            <a:pPr algn="ctr">
              <a:lnSpc>
                <a:spcPts val="2646"/>
              </a:lnSpc>
              <a:spcBef>
                <a:spcPct val="0"/>
              </a:spcBef>
            </a:pPr>
            <a:endParaRPr lang="en-US" sz="1890" spc="-9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algn="l">
              <a:lnSpc>
                <a:spcPts val="2646"/>
              </a:lnSpc>
              <a:spcBef>
                <a:spcPct val="0"/>
              </a:spcBef>
            </a:pPr>
            <a:r>
              <a:rPr lang="en-US" sz="189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Model Type</a:t>
            </a:r>
          </a:p>
          <a:p>
            <a:pPr algn="l">
              <a:lnSpc>
                <a:spcPts val="2646"/>
              </a:lnSpc>
              <a:spcBef>
                <a:spcPct val="0"/>
              </a:spcBef>
            </a:pPr>
            <a:r>
              <a:rPr lang="en-US" sz="189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BiLSTM</a:t>
            </a:r>
          </a:p>
          <a:p>
            <a:pPr algn="l">
              <a:lnSpc>
                <a:spcPts val="2646"/>
              </a:lnSpc>
              <a:spcBef>
                <a:spcPct val="0"/>
              </a:spcBef>
            </a:pPr>
            <a:endParaRPr lang="en-US" sz="189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algn="l">
              <a:lnSpc>
                <a:spcPts val="2646"/>
              </a:lnSpc>
              <a:spcBef>
                <a:spcPct val="0"/>
              </a:spcBef>
            </a:pPr>
            <a:r>
              <a:rPr lang="en-US" sz="189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Test R²</a:t>
            </a:r>
          </a:p>
          <a:p>
            <a:pPr algn="l">
              <a:lnSpc>
                <a:spcPts val="2646"/>
              </a:lnSpc>
              <a:spcBef>
                <a:spcPct val="0"/>
              </a:spcBef>
            </a:pPr>
            <a:r>
              <a:rPr lang="en-US" sz="189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0.9438</a:t>
            </a:r>
          </a:p>
          <a:p>
            <a:pPr algn="l">
              <a:lnSpc>
                <a:spcPts val="2646"/>
              </a:lnSpc>
              <a:spcBef>
                <a:spcPct val="0"/>
              </a:spcBef>
            </a:pPr>
            <a:endParaRPr lang="en-US" sz="189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  <a:p>
            <a:pPr algn="l">
              <a:lnSpc>
                <a:spcPts val="2646"/>
              </a:lnSpc>
              <a:spcBef>
                <a:spcPct val="0"/>
              </a:spcBef>
            </a:pPr>
            <a:r>
              <a:rPr lang="en-US" sz="189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Features</a:t>
            </a:r>
          </a:p>
          <a:p>
            <a:pPr algn="l">
              <a:lnSpc>
                <a:spcPts val="2646"/>
              </a:lnSpc>
              <a:spcBef>
                <a:spcPct val="0"/>
              </a:spcBef>
            </a:pPr>
            <a:r>
              <a:rPr lang="en-US" sz="189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20</a:t>
            </a:r>
          </a:p>
          <a:p>
            <a:pPr algn="ctr">
              <a:lnSpc>
                <a:spcPts val="2646"/>
              </a:lnSpc>
              <a:spcBef>
                <a:spcPct val="0"/>
              </a:spcBef>
            </a:pPr>
            <a:endParaRPr lang="en-US" sz="1890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4776672" y="233004"/>
            <a:ext cx="13026580" cy="22950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96"/>
              </a:lnSpc>
            </a:pPr>
            <a:r>
              <a:rPr lang="en-US" sz="6354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Milestone 5: </a:t>
            </a:r>
            <a:r>
              <a:rPr lang="en-US" sz="6354" b="1">
                <a:solidFill>
                  <a:srgbClr val="00000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Visualization &amp; Dashboard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4742658" y="2444097"/>
            <a:ext cx="4886325" cy="3900048"/>
            <a:chOff x="0" y="0"/>
            <a:chExt cx="1286933" cy="102717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286933" cy="1027173"/>
            </a:xfrm>
            <a:custGeom>
              <a:avLst/>
              <a:gdLst/>
              <a:ahLst/>
              <a:cxnLst/>
              <a:rect l="l" t="t" r="r" b="b"/>
              <a:pathLst>
                <a:path w="1286933" h="1027173">
                  <a:moveTo>
                    <a:pt x="53474" y="0"/>
                  </a:moveTo>
                  <a:lnTo>
                    <a:pt x="1233460" y="0"/>
                  </a:lnTo>
                  <a:cubicBezTo>
                    <a:pt x="1262992" y="0"/>
                    <a:pt x="1286933" y="23941"/>
                    <a:pt x="1286933" y="53474"/>
                  </a:cubicBezTo>
                  <a:lnTo>
                    <a:pt x="1286933" y="973699"/>
                  </a:lnTo>
                  <a:cubicBezTo>
                    <a:pt x="1286933" y="1003232"/>
                    <a:pt x="1262992" y="1027173"/>
                    <a:pt x="1233460" y="1027173"/>
                  </a:cubicBezTo>
                  <a:lnTo>
                    <a:pt x="53474" y="1027173"/>
                  </a:lnTo>
                  <a:cubicBezTo>
                    <a:pt x="23941" y="1027173"/>
                    <a:pt x="0" y="1003232"/>
                    <a:pt x="0" y="973699"/>
                  </a:cubicBezTo>
                  <a:lnTo>
                    <a:pt x="0" y="53474"/>
                  </a:lnTo>
                  <a:cubicBezTo>
                    <a:pt x="0" y="23941"/>
                    <a:pt x="23941" y="0"/>
                    <a:pt x="5347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3072E">
                    <a:alpha val="100000"/>
                  </a:srgbClr>
                </a:gs>
                <a:gs pos="100000">
                  <a:srgbClr val="3F2182">
                    <a:alpha val="100000"/>
                  </a:srgbClr>
                </a:gs>
              </a:gsLst>
              <a:lin ang="2700000"/>
            </a:gradFill>
            <a:ln cap="rnd">
              <a:noFill/>
              <a:prstDash val="solid"/>
              <a:round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0" y="-19050"/>
              <a:ext cx="1286933" cy="10462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87"/>
                </a:lnSpc>
              </a:pPr>
              <a:endParaRPr/>
            </a:p>
          </p:txBody>
        </p:sp>
      </p:grpSp>
      <p:sp>
        <p:nvSpPr>
          <p:cNvPr id="30" name="Freeform 30"/>
          <p:cNvSpPr/>
          <p:nvPr/>
        </p:nvSpPr>
        <p:spPr>
          <a:xfrm>
            <a:off x="5157788" y="2769625"/>
            <a:ext cx="771525" cy="532352"/>
          </a:xfrm>
          <a:custGeom>
            <a:avLst/>
            <a:gdLst/>
            <a:ahLst/>
            <a:cxnLst/>
            <a:rect l="l" t="t" r="r" b="b"/>
            <a:pathLst>
              <a:path w="771525" h="532352">
                <a:moveTo>
                  <a:pt x="0" y="0"/>
                </a:moveTo>
                <a:lnTo>
                  <a:pt x="771525" y="0"/>
                </a:lnTo>
                <a:lnTo>
                  <a:pt x="771525" y="532353"/>
                </a:lnTo>
                <a:lnTo>
                  <a:pt x="0" y="53235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5543550" y="3596535"/>
            <a:ext cx="3600450" cy="996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88"/>
              </a:lnSpc>
            </a:pPr>
            <a:r>
              <a:rPr lang="en-US" sz="324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Interactive Dashboard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543550" y="4818116"/>
            <a:ext cx="3600450" cy="983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91"/>
              </a:lnSpc>
            </a:pPr>
            <a:r>
              <a:rPr lang="en-US" sz="2159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Built using Streamlit with gradient UI and sidebar navigation.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0992011" y="2444097"/>
            <a:ext cx="4886325" cy="3900048"/>
            <a:chOff x="0" y="0"/>
            <a:chExt cx="1286933" cy="102717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286933" cy="1027173"/>
            </a:xfrm>
            <a:custGeom>
              <a:avLst/>
              <a:gdLst/>
              <a:ahLst/>
              <a:cxnLst/>
              <a:rect l="l" t="t" r="r" b="b"/>
              <a:pathLst>
                <a:path w="1286933" h="1027173">
                  <a:moveTo>
                    <a:pt x="53474" y="0"/>
                  </a:moveTo>
                  <a:lnTo>
                    <a:pt x="1233460" y="0"/>
                  </a:lnTo>
                  <a:cubicBezTo>
                    <a:pt x="1262992" y="0"/>
                    <a:pt x="1286933" y="23941"/>
                    <a:pt x="1286933" y="53474"/>
                  </a:cubicBezTo>
                  <a:lnTo>
                    <a:pt x="1286933" y="973699"/>
                  </a:lnTo>
                  <a:cubicBezTo>
                    <a:pt x="1286933" y="1003232"/>
                    <a:pt x="1262992" y="1027173"/>
                    <a:pt x="1233460" y="1027173"/>
                  </a:cubicBezTo>
                  <a:lnTo>
                    <a:pt x="53474" y="1027173"/>
                  </a:lnTo>
                  <a:cubicBezTo>
                    <a:pt x="23941" y="1027173"/>
                    <a:pt x="0" y="1003232"/>
                    <a:pt x="0" y="973699"/>
                  </a:cubicBezTo>
                  <a:lnTo>
                    <a:pt x="0" y="53474"/>
                  </a:lnTo>
                  <a:cubicBezTo>
                    <a:pt x="0" y="23941"/>
                    <a:pt x="23941" y="0"/>
                    <a:pt x="5347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3072E">
                    <a:alpha val="100000"/>
                  </a:srgbClr>
                </a:gs>
                <a:gs pos="100000">
                  <a:srgbClr val="3F2182">
                    <a:alpha val="100000"/>
                  </a:srgbClr>
                </a:gs>
              </a:gsLst>
              <a:lin ang="2700000"/>
            </a:gradFill>
            <a:ln cap="rnd">
              <a:noFill/>
              <a:prstDash val="solid"/>
              <a:round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0" y="-19050"/>
              <a:ext cx="1286933" cy="10462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87"/>
                </a:lnSpc>
              </a:pPr>
              <a:endParaRPr/>
            </a:p>
          </p:txBody>
        </p:sp>
      </p:grpSp>
      <p:sp>
        <p:nvSpPr>
          <p:cNvPr id="36" name="Freeform 36"/>
          <p:cNvSpPr/>
          <p:nvPr/>
        </p:nvSpPr>
        <p:spPr>
          <a:xfrm>
            <a:off x="11289962" y="2769625"/>
            <a:ext cx="771525" cy="532352"/>
          </a:xfrm>
          <a:custGeom>
            <a:avLst/>
            <a:gdLst/>
            <a:ahLst/>
            <a:cxnLst/>
            <a:rect l="l" t="t" r="r" b="b"/>
            <a:pathLst>
              <a:path w="771525" h="532352">
                <a:moveTo>
                  <a:pt x="0" y="0"/>
                </a:moveTo>
                <a:lnTo>
                  <a:pt x="771525" y="0"/>
                </a:lnTo>
                <a:lnTo>
                  <a:pt x="771525" y="532353"/>
                </a:lnTo>
                <a:lnTo>
                  <a:pt x="0" y="53235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7" name="TextBox 37"/>
          <p:cNvSpPr txBox="1"/>
          <p:nvPr/>
        </p:nvSpPr>
        <p:spPr>
          <a:xfrm>
            <a:off x="11876942" y="3527244"/>
            <a:ext cx="3600450" cy="996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88"/>
              </a:lnSpc>
            </a:pPr>
            <a:r>
              <a:rPr lang="en-US" sz="324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🧠 Model Integration: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634948" y="4818116"/>
            <a:ext cx="3600450" cy="1304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91"/>
              </a:lnSpc>
            </a:pPr>
            <a:r>
              <a:rPr lang="en-US" sz="2159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BiLSTM model predicts Remaining Useful Life (RUL) from time-series sensor data.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4742658" y="6424727"/>
            <a:ext cx="4886325" cy="3862273"/>
            <a:chOff x="0" y="0"/>
            <a:chExt cx="1286933" cy="1017224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286933" cy="1017224"/>
            </a:xfrm>
            <a:custGeom>
              <a:avLst/>
              <a:gdLst/>
              <a:ahLst/>
              <a:cxnLst/>
              <a:rect l="l" t="t" r="r" b="b"/>
              <a:pathLst>
                <a:path w="1286933" h="1017224">
                  <a:moveTo>
                    <a:pt x="53474" y="0"/>
                  </a:moveTo>
                  <a:lnTo>
                    <a:pt x="1233460" y="0"/>
                  </a:lnTo>
                  <a:cubicBezTo>
                    <a:pt x="1262992" y="0"/>
                    <a:pt x="1286933" y="23941"/>
                    <a:pt x="1286933" y="53474"/>
                  </a:cubicBezTo>
                  <a:lnTo>
                    <a:pt x="1286933" y="963750"/>
                  </a:lnTo>
                  <a:cubicBezTo>
                    <a:pt x="1286933" y="993283"/>
                    <a:pt x="1262992" y="1017224"/>
                    <a:pt x="1233460" y="1017224"/>
                  </a:cubicBezTo>
                  <a:lnTo>
                    <a:pt x="53474" y="1017224"/>
                  </a:lnTo>
                  <a:cubicBezTo>
                    <a:pt x="23941" y="1017224"/>
                    <a:pt x="0" y="993283"/>
                    <a:pt x="0" y="963750"/>
                  </a:cubicBezTo>
                  <a:lnTo>
                    <a:pt x="0" y="53474"/>
                  </a:lnTo>
                  <a:cubicBezTo>
                    <a:pt x="0" y="23941"/>
                    <a:pt x="23941" y="0"/>
                    <a:pt x="5347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3072E">
                    <a:alpha val="100000"/>
                  </a:srgbClr>
                </a:gs>
                <a:gs pos="100000">
                  <a:srgbClr val="3F2182">
                    <a:alpha val="100000"/>
                  </a:srgbClr>
                </a:gs>
              </a:gsLst>
              <a:lin ang="2700000"/>
            </a:gradFill>
            <a:ln cap="rnd">
              <a:noFill/>
              <a:prstDash val="solid"/>
              <a:round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0" y="-19050"/>
              <a:ext cx="1286933" cy="10362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87"/>
                </a:lnSpc>
              </a:pPr>
              <a:endParaRPr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5157788" y="7358939"/>
            <a:ext cx="3600450" cy="996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88"/>
              </a:lnSpc>
            </a:pPr>
            <a:r>
              <a:rPr lang="en-US" sz="324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📊 Performance Metrics: </a:t>
            </a:r>
          </a:p>
        </p:txBody>
      </p:sp>
      <p:sp>
        <p:nvSpPr>
          <p:cNvPr id="43" name="Freeform 43"/>
          <p:cNvSpPr/>
          <p:nvPr/>
        </p:nvSpPr>
        <p:spPr>
          <a:xfrm>
            <a:off x="5157788" y="6652755"/>
            <a:ext cx="771525" cy="532352"/>
          </a:xfrm>
          <a:custGeom>
            <a:avLst/>
            <a:gdLst/>
            <a:ahLst/>
            <a:cxnLst/>
            <a:rect l="l" t="t" r="r" b="b"/>
            <a:pathLst>
              <a:path w="771525" h="532352">
                <a:moveTo>
                  <a:pt x="0" y="0"/>
                </a:moveTo>
                <a:lnTo>
                  <a:pt x="771525" y="0"/>
                </a:lnTo>
                <a:lnTo>
                  <a:pt x="771525" y="532352"/>
                </a:lnTo>
                <a:lnTo>
                  <a:pt x="0" y="53235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44" name="TextBox 44"/>
          <p:cNvSpPr txBox="1"/>
          <p:nvPr/>
        </p:nvSpPr>
        <p:spPr>
          <a:xfrm>
            <a:off x="5157788" y="8529086"/>
            <a:ext cx="3600450" cy="983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91"/>
              </a:lnSpc>
            </a:pPr>
            <a:r>
              <a:rPr lang="en-US" sz="2159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Displayed using Plotly charts (RMSE, MAE, R², Mean Bias, Error Std).</a:t>
            </a:r>
          </a:p>
        </p:txBody>
      </p:sp>
      <p:grpSp>
        <p:nvGrpSpPr>
          <p:cNvPr id="45" name="Group 45"/>
          <p:cNvGrpSpPr/>
          <p:nvPr/>
        </p:nvGrpSpPr>
        <p:grpSpPr>
          <a:xfrm>
            <a:off x="10992011" y="6424727"/>
            <a:ext cx="4886325" cy="3862273"/>
            <a:chOff x="0" y="0"/>
            <a:chExt cx="1286933" cy="1017224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286933" cy="1017224"/>
            </a:xfrm>
            <a:custGeom>
              <a:avLst/>
              <a:gdLst/>
              <a:ahLst/>
              <a:cxnLst/>
              <a:rect l="l" t="t" r="r" b="b"/>
              <a:pathLst>
                <a:path w="1286933" h="1017224">
                  <a:moveTo>
                    <a:pt x="53474" y="0"/>
                  </a:moveTo>
                  <a:lnTo>
                    <a:pt x="1233460" y="0"/>
                  </a:lnTo>
                  <a:cubicBezTo>
                    <a:pt x="1262992" y="0"/>
                    <a:pt x="1286933" y="23941"/>
                    <a:pt x="1286933" y="53474"/>
                  </a:cubicBezTo>
                  <a:lnTo>
                    <a:pt x="1286933" y="963750"/>
                  </a:lnTo>
                  <a:cubicBezTo>
                    <a:pt x="1286933" y="993283"/>
                    <a:pt x="1262992" y="1017224"/>
                    <a:pt x="1233460" y="1017224"/>
                  </a:cubicBezTo>
                  <a:lnTo>
                    <a:pt x="53474" y="1017224"/>
                  </a:lnTo>
                  <a:cubicBezTo>
                    <a:pt x="23941" y="1017224"/>
                    <a:pt x="0" y="993283"/>
                    <a:pt x="0" y="963750"/>
                  </a:cubicBezTo>
                  <a:lnTo>
                    <a:pt x="0" y="53474"/>
                  </a:lnTo>
                  <a:cubicBezTo>
                    <a:pt x="0" y="23941"/>
                    <a:pt x="23941" y="0"/>
                    <a:pt x="5347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13072E">
                    <a:alpha val="100000"/>
                  </a:srgbClr>
                </a:gs>
                <a:gs pos="100000">
                  <a:srgbClr val="3F2182">
                    <a:alpha val="100000"/>
                  </a:srgbClr>
                </a:gs>
              </a:gsLst>
              <a:lin ang="2700000"/>
            </a:gradFill>
            <a:ln cap="rnd">
              <a:noFill/>
              <a:prstDash val="solid"/>
              <a:round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0" y="-19050"/>
              <a:ext cx="1286933" cy="10362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87"/>
                </a:lnSpc>
              </a:pPr>
              <a:endParaRPr/>
            </a:p>
          </p:txBody>
        </p:sp>
      </p:grpSp>
      <p:sp>
        <p:nvSpPr>
          <p:cNvPr id="48" name="Freeform 48"/>
          <p:cNvSpPr/>
          <p:nvPr/>
        </p:nvSpPr>
        <p:spPr>
          <a:xfrm>
            <a:off x="11491180" y="6652755"/>
            <a:ext cx="771525" cy="532352"/>
          </a:xfrm>
          <a:custGeom>
            <a:avLst/>
            <a:gdLst/>
            <a:ahLst/>
            <a:cxnLst/>
            <a:rect l="l" t="t" r="r" b="b"/>
            <a:pathLst>
              <a:path w="771525" h="532352">
                <a:moveTo>
                  <a:pt x="0" y="0"/>
                </a:moveTo>
                <a:lnTo>
                  <a:pt x="771525" y="0"/>
                </a:lnTo>
                <a:lnTo>
                  <a:pt x="771525" y="532352"/>
                </a:lnTo>
                <a:lnTo>
                  <a:pt x="0" y="53235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11634948" y="7358939"/>
            <a:ext cx="3600450" cy="507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88"/>
              </a:lnSpc>
            </a:pPr>
            <a:r>
              <a:rPr lang="en-US" sz="324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🤖 AI Chatbot: 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1634948" y="8529086"/>
            <a:ext cx="3600450" cy="1304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91"/>
              </a:lnSpc>
            </a:pPr>
            <a:r>
              <a:rPr lang="en-US" sz="2159">
                <a:solidFill>
                  <a:srgbClr val="FFFFFF"/>
                </a:solidFill>
                <a:latin typeface="Poppins Light"/>
                <a:ea typeface="Poppins Light"/>
                <a:cs typeface="Poppins Light"/>
                <a:sym typeface="Poppins Light"/>
              </a:rPr>
              <a:t>Powered by Tavily API for user interaction and explanation of results.</a:t>
            </a:r>
          </a:p>
          <a:p>
            <a:pPr algn="l">
              <a:lnSpc>
                <a:spcPts val="2591"/>
              </a:lnSpc>
            </a:pPr>
            <a:endParaRPr lang="en-US" sz="2159">
              <a:solidFill>
                <a:srgbClr val="FFFFFF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9258300"/>
            <a:ext cx="18941525" cy="3086100"/>
            <a:chOff x="0" y="0"/>
            <a:chExt cx="4988714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88714" cy="812800"/>
            </a:xfrm>
            <a:custGeom>
              <a:avLst/>
              <a:gdLst/>
              <a:ahLst/>
              <a:cxnLst/>
              <a:rect l="l" t="t" r="r" b="b"/>
              <a:pathLst>
                <a:path w="4988714" h="812800">
                  <a:moveTo>
                    <a:pt x="0" y="0"/>
                  </a:moveTo>
                  <a:lnTo>
                    <a:pt x="4988714" y="0"/>
                  </a:lnTo>
                  <a:lnTo>
                    <a:pt x="4988714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A0E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76200"/>
              <a:ext cx="4988714" cy="8890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923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98225" y="1577691"/>
            <a:ext cx="17989775" cy="97454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3"/>
              </a:lnSpc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Deployed Dashboard: </a:t>
            </a:r>
          </a:p>
          <a:p>
            <a:pPr algn="l">
              <a:lnSpc>
                <a:spcPts val="5173"/>
              </a:lnSpc>
            </a:pPr>
            <a:r>
              <a:rPr lang="en-US" sz="3695" u="sng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  <a:hlinkClick r:id="rId2" tooltip="https://milestone5-fewucmtz4wjy4nwvowtfpv.streamlit.app"/>
              </a:rPr>
              <a:t>https://milestone5-fewucmtz4wjy4nwvowtfpv.streamlit.app/</a:t>
            </a:r>
          </a:p>
          <a:p>
            <a:pPr algn="l">
              <a:lnSpc>
                <a:spcPts val="5173"/>
              </a:lnSpc>
            </a:pPr>
            <a:endParaRPr lang="en-US" sz="3695" u="sng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  <a:hlinkClick r:id="rId2" tooltip="https://milestone5-fewucmtz4wjy4nwvowtfpv.streamlit.app"/>
            </a:endParaRPr>
          </a:p>
          <a:p>
            <a:pPr marL="797796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PrognosAI demonstrates how AI-driven predictive maintenance enhances industrial reliability and efficiency.</a:t>
            </a:r>
          </a:p>
          <a:p>
            <a:pPr marL="797796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The Bi-LSTM model accurately predicts Remaining Useful Life (RUL) using time-series sensor data.</a:t>
            </a:r>
          </a:p>
          <a:p>
            <a:pPr marL="797796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The integrated Streamlit dashboard provides real-time visualization, alert generation, and AI assistant interaction.</a:t>
            </a:r>
          </a:p>
          <a:p>
            <a:pPr marL="797796" lvl="1" indent="-398898" algn="l">
              <a:lnSpc>
                <a:spcPts val="5173"/>
              </a:lnSpc>
              <a:buFont typeface="Arial"/>
              <a:buChar char="•"/>
            </a:pPr>
            <a:r>
              <a:rPr lang="en-US" sz="3695">
                <a:solidFill>
                  <a:srgbClr val="000000"/>
                </a:solidFill>
                <a:latin typeface="Codec Pro"/>
                <a:ea typeface="Codec Pro"/>
                <a:cs typeface="Codec Pro"/>
                <a:sym typeface="Codec Pro"/>
              </a:rPr>
              <a:t>The system enables a shift from reactive to proactive maintenance, reducing downtime and optimizing asset utilization.</a:t>
            </a:r>
          </a:p>
          <a:p>
            <a:pPr algn="l">
              <a:lnSpc>
                <a:spcPts val="5173"/>
              </a:lnSpc>
            </a:pPr>
            <a:endParaRPr lang="en-US" sz="369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algn="l">
              <a:lnSpc>
                <a:spcPts val="5173"/>
              </a:lnSpc>
            </a:pPr>
            <a:endParaRPr lang="en-US" sz="369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algn="l">
              <a:lnSpc>
                <a:spcPts val="5173"/>
              </a:lnSpc>
            </a:pPr>
            <a:endParaRPr lang="en-US" sz="369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  <a:p>
            <a:pPr algn="l">
              <a:lnSpc>
                <a:spcPts val="5173"/>
              </a:lnSpc>
            </a:pPr>
            <a:endParaRPr lang="en-US" sz="3695">
              <a:solidFill>
                <a:srgbClr val="00000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98225" y="-81076"/>
            <a:ext cx="17989775" cy="1416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39"/>
              </a:lnSpc>
            </a:pPr>
            <a:r>
              <a:rPr lang="en-US" sz="7528" b="1">
                <a:solidFill>
                  <a:srgbClr val="00A0E5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Conclusion: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686</Words>
  <Application>Microsoft Office PowerPoint</Application>
  <PresentationFormat>Custom</PresentationFormat>
  <Paragraphs>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Arial</vt:lpstr>
      <vt:lpstr>Poppins Light</vt:lpstr>
      <vt:lpstr>Codec Pro Bold</vt:lpstr>
      <vt:lpstr>Codec Pro</vt:lpstr>
      <vt:lpstr>Open Sauce</vt:lpstr>
      <vt:lpstr>Poppins Bold</vt:lpstr>
      <vt:lpstr>Arial MT Pro</vt:lpstr>
      <vt:lpstr>Open Sauce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AI-Driven Predictive Maintenance System Using Time-Series Sensor Data</dc:title>
  <cp:lastModifiedBy>Thilak Bangera</cp:lastModifiedBy>
  <cp:revision>2</cp:revision>
  <dcterms:created xsi:type="dcterms:W3CDTF">2006-08-16T00:00:00Z</dcterms:created>
  <dcterms:modified xsi:type="dcterms:W3CDTF">2025-11-14T11:31:19Z</dcterms:modified>
  <dc:identifier>DAG4lOQ_OWI</dc:identifier>
</cp:coreProperties>
</file>