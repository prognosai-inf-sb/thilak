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odec Pro Bold" charset="1" panose="00000600000000000000"/>
      <p:regular r:id="rId15"/>
    </p:embeddedFont>
    <p:embeddedFont>
      <p:font typeface="Codec Pro" charset="1" panose="00000500000000000000"/>
      <p:regular r:id="rId16"/>
    </p:embeddedFont>
    <p:embeddedFont>
      <p:font typeface="Arial MT Pro" charset="1" panose="020B0502020202020204"/>
      <p:regular r:id="rId17"/>
    </p:embeddedFont>
    <p:embeddedFont>
      <p:font typeface="Open Sauce Bold" charset="1" panose="00000800000000000000"/>
      <p:regular r:id="rId18"/>
    </p:embeddedFont>
    <p:embeddedFont>
      <p:font typeface="Open Sauce" charset="1" panose="00000500000000000000"/>
      <p:regular r:id="rId19"/>
    </p:embeddedFont>
    <p:embeddedFont>
      <p:font typeface="Poppins Bold" charset="1" panose="00000800000000000000"/>
      <p:regular r:id="rId20"/>
    </p:embeddedFont>
    <p:embeddedFont>
      <p:font typeface="Poppins Light" charset="1" panose="000004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15.png" Type="http://schemas.openxmlformats.org/officeDocument/2006/relationships/image"/><Relationship Id="rId14" Target="../media/image16.svg" Type="http://schemas.openxmlformats.org/officeDocument/2006/relationships/image"/><Relationship Id="rId15" Target="../media/image17.png" Type="http://schemas.openxmlformats.org/officeDocument/2006/relationships/image"/><Relationship Id="rId16" Target="../media/image18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https://drive.google.com/file/d/1gF84aYouxVj9ViKbwnLlQ1arFnah0AYJ/view?usp=sharing" TargetMode="External" Type="http://schemas.openxmlformats.org/officeDocument/2006/relationships/hyperlink"/><Relationship Id="rId4" Target="../media/image24.png" Type="http://schemas.openxmlformats.org/officeDocument/2006/relationships/image"/><Relationship Id="rId5" Target="https://drive.google.com/file/d/13YBAgla-5iUgsVtkam6lrZkMAoIz-xf8/view?usp=sharing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35.png" Type="http://schemas.openxmlformats.org/officeDocument/2006/relationships/image"/><Relationship Id="rId13" Target="../media/image36.svg" Type="http://schemas.openxmlformats.org/officeDocument/2006/relationships/image"/><Relationship Id="rId14" Target="../media/image37.png" Type="http://schemas.openxmlformats.org/officeDocument/2006/relationships/image"/><Relationship Id="rId15" Target="../media/image38.sv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milestone5-fewucmtz4wjy4nwvowtfpv.streamlit.app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D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6338728"/>
            <a:ext cx="16230600" cy="304324"/>
          </a:xfrm>
          <a:custGeom>
            <a:avLst/>
            <a:gdLst/>
            <a:ahLst/>
            <a:cxnLst/>
            <a:rect r="r" b="b" t="t" l="l"/>
            <a:pathLst>
              <a:path h="304324" w="16230600">
                <a:moveTo>
                  <a:pt x="0" y="0"/>
                </a:moveTo>
                <a:lnTo>
                  <a:pt x="16230600" y="0"/>
                </a:lnTo>
                <a:lnTo>
                  <a:pt x="16230600" y="304324"/>
                </a:lnTo>
                <a:lnTo>
                  <a:pt x="0" y="304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08552" y="6919277"/>
            <a:ext cx="1550108" cy="1575895"/>
          </a:xfrm>
          <a:custGeom>
            <a:avLst/>
            <a:gdLst/>
            <a:ahLst/>
            <a:cxnLst/>
            <a:rect r="r" b="b" t="t" l="l"/>
            <a:pathLst>
              <a:path h="1575895" w="1550108">
                <a:moveTo>
                  <a:pt x="0" y="0"/>
                </a:moveTo>
                <a:lnTo>
                  <a:pt x="1550108" y="0"/>
                </a:lnTo>
                <a:lnTo>
                  <a:pt x="1550108" y="1575895"/>
                </a:lnTo>
                <a:lnTo>
                  <a:pt x="0" y="15758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1091033"/>
            <a:ext cx="18288000" cy="4966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AI-Driven Predictive Maintenance System Using Time-Series Sensor Data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43952" y="6695353"/>
            <a:ext cx="5252085" cy="1709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  <a:spcBef>
                <a:spcPct val="0"/>
              </a:spcBef>
            </a:pPr>
            <a:r>
              <a:rPr lang="en-US" b="true" sz="920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By: Thilak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9258300"/>
            <a:ext cx="18941525" cy="3086100"/>
            <a:chOff x="0" y="0"/>
            <a:chExt cx="4988714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8714" cy="812800"/>
            </a:xfrm>
            <a:custGeom>
              <a:avLst/>
              <a:gdLst/>
              <a:ahLst/>
              <a:cxnLst/>
              <a:rect r="r" b="b" t="t" l="l"/>
              <a:pathLst>
                <a:path h="812800" w="4988714">
                  <a:moveTo>
                    <a:pt x="0" y="0"/>
                  </a:moveTo>
                  <a:lnTo>
                    <a:pt x="4988714" y="0"/>
                  </a:lnTo>
                  <a:lnTo>
                    <a:pt x="49887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A0E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988714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712195" y="9883016"/>
            <a:ext cx="9525" cy="235582"/>
          </a:xfrm>
          <a:custGeom>
            <a:avLst/>
            <a:gdLst/>
            <a:ahLst/>
            <a:cxnLst/>
            <a:rect r="r" b="b" t="t" l="l"/>
            <a:pathLst>
              <a:path h="235582" w="9525">
                <a:moveTo>
                  <a:pt x="0" y="0"/>
                </a:moveTo>
                <a:lnTo>
                  <a:pt x="9525" y="0"/>
                </a:lnTo>
                <a:lnTo>
                  <a:pt x="9525" y="235582"/>
                </a:lnTo>
                <a:lnTo>
                  <a:pt x="0" y="235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8932" t="0" r="-48932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28327" y="217494"/>
            <a:ext cx="1247775" cy="1123950"/>
            <a:chOff x="0" y="0"/>
            <a:chExt cx="1663700" cy="1498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637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1663700">
                  <a:moveTo>
                    <a:pt x="0" y="0"/>
                  </a:moveTo>
                  <a:lnTo>
                    <a:pt x="1663700" y="0"/>
                  </a:lnTo>
                  <a:lnTo>
                    <a:pt x="1663700" y="1498600"/>
                  </a:lnTo>
                  <a:lnTo>
                    <a:pt x="0" y="149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4488" t="0" r="-104488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63503" y="1503998"/>
            <a:ext cx="4010530" cy="150809"/>
          </a:xfrm>
          <a:custGeom>
            <a:avLst/>
            <a:gdLst/>
            <a:ahLst/>
            <a:cxnLst/>
            <a:rect r="r" b="b" t="t" l="l"/>
            <a:pathLst>
              <a:path h="150809" w="4010530">
                <a:moveTo>
                  <a:pt x="0" y="0"/>
                </a:moveTo>
                <a:lnTo>
                  <a:pt x="4010530" y="0"/>
                </a:lnTo>
                <a:lnTo>
                  <a:pt x="4010530" y="150809"/>
                </a:lnTo>
                <a:lnTo>
                  <a:pt x="0" y="1508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14" r="0" b="-414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52500" y="2608240"/>
            <a:ext cx="5139433" cy="5909066"/>
            <a:chOff x="0" y="0"/>
            <a:chExt cx="6852577" cy="78787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52539" cy="7878755"/>
            </a:xfrm>
            <a:custGeom>
              <a:avLst/>
              <a:gdLst/>
              <a:ahLst/>
              <a:cxnLst/>
              <a:rect r="r" b="b" t="t" l="l"/>
              <a:pathLst>
                <a:path h="7878755" w="6852539">
                  <a:moveTo>
                    <a:pt x="0" y="0"/>
                  </a:moveTo>
                  <a:lnTo>
                    <a:pt x="6852539" y="0"/>
                  </a:lnTo>
                  <a:lnTo>
                    <a:pt x="6852539" y="7878755"/>
                  </a:lnTo>
                  <a:lnTo>
                    <a:pt x="0" y="7878755"/>
                  </a:lnTo>
                  <a:close/>
                </a:path>
              </a:pathLst>
            </a:custGeom>
            <a:solidFill>
              <a:srgbClr val="A9E4F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572250" y="2608240"/>
            <a:ext cx="5139433" cy="5909066"/>
            <a:chOff x="0" y="0"/>
            <a:chExt cx="6852577" cy="78787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52539" cy="7878755"/>
            </a:xfrm>
            <a:custGeom>
              <a:avLst/>
              <a:gdLst/>
              <a:ahLst/>
              <a:cxnLst/>
              <a:rect r="r" b="b" t="t" l="l"/>
              <a:pathLst>
                <a:path h="7878755" w="6852539">
                  <a:moveTo>
                    <a:pt x="0" y="0"/>
                  </a:moveTo>
                  <a:lnTo>
                    <a:pt x="6852539" y="0"/>
                  </a:lnTo>
                  <a:lnTo>
                    <a:pt x="6852539" y="7878755"/>
                  </a:lnTo>
                  <a:lnTo>
                    <a:pt x="0" y="7878755"/>
                  </a:lnTo>
                  <a:close/>
                </a:path>
              </a:pathLst>
            </a:custGeom>
            <a:solidFill>
              <a:srgbClr val="A9E4FE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192000" y="2608240"/>
            <a:ext cx="5139433" cy="5909066"/>
            <a:chOff x="0" y="0"/>
            <a:chExt cx="6852577" cy="78787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52539" cy="7878755"/>
            </a:xfrm>
            <a:custGeom>
              <a:avLst/>
              <a:gdLst/>
              <a:ahLst/>
              <a:cxnLst/>
              <a:rect r="r" b="b" t="t" l="l"/>
              <a:pathLst>
                <a:path h="7878755" w="6852539">
                  <a:moveTo>
                    <a:pt x="0" y="0"/>
                  </a:moveTo>
                  <a:lnTo>
                    <a:pt x="6852539" y="0"/>
                  </a:lnTo>
                  <a:lnTo>
                    <a:pt x="6852539" y="7878755"/>
                  </a:lnTo>
                  <a:lnTo>
                    <a:pt x="0" y="7878755"/>
                  </a:lnTo>
                  <a:close/>
                </a:path>
              </a:pathLst>
            </a:custGeom>
            <a:solidFill>
              <a:srgbClr val="A9E4FE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4385036" y="1489710"/>
            <a:ext cx="3966467" cy="150809"/>
          </a:xfrm>
          <a:custGeom>
            <a:avLst/>
            <a:gdLst/>
            <a:ahLst/>
            <a:cxnLst/>
            <a:rect r="r" b="b" t="t" l="l"/>
            <a:pathLst>
              <a:path h="150809" w="3966467">
                <a:moveTo>
                  <a:pt x="0" y="0"/>
                </a:moveTo>
                <a:lnTo>
                  <a:pt x="3966467" y="0"/>
                </a:lnTo>
                <a:lnTo>
                  <a:pt x="3966467" y="150809"/>
                </a:lnTo>
                <a:lnTo>
                  <a:pt x="0" y="1508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458" r="0" b="-458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686435" y="738236"/>
            <a:ext cx="9084247" cy="1416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39"/>
              </a:lnSpc>
            </a:pPr>
            <a:r>
              <a:rPr lang="en-US" sz="7528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Problem </a:t>
            </a:r>
            <a:r>
              <a:rPr lang="en-US" sz="7528" b="true">
                <a:solidFill>
                  <a:srgbClr val="00A0E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Statement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148" y="3828828"/>
            <a:ext cx="4708137" cy="5515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3499" indent="-281750" lvl="1">
              <a:lnSpc>
                <a:spcPts val="3651"/>
              </a:lnSpc>
              <a:buFont typeface="Arial"/>
              <a:buChar char="•"/>
            </a:pPr>
            <a:r>
              <a:rPr lang="en-US" sz="261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Unplan</a:t>
            </a:r>
            <a:r>
              <a:rPr lang="en-US" sz="261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ned shutdowns disrupt production and increase losses.</a:t>
            </a:r>
          </a:p>
          <a:p>
            <a:pPr algn="l" marL="563499" indent="-281750" lvl="1">
              <a:lnSpc>
                <a:spcPts val="3651"/>
              </a:lnSpc>
              <a:buFont typeface="Arial"/>
              <a:buChar char="•"/>
            </a:pPr>
            <a:r>
              <a:rPr lang="en-US" sz="261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Maintenance is either too early (wasteful) or too late (risk of failure).</a:t>
            </a:r>
          </a:p>
          <a:p>
            <a:pPr algn="l" marL="563499" indent="-281750" lvl="1">
              <a:lnSpc>
                <a:spcPts val="3651"/>
              </a:lnSpc>
              <a:buFont typeface="Arial"/>
              <a:buChar char="•"/>
            </a:pPr>
            <a:r>
              <a:rPr lang="en-US" sz="261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Lack of data-driven insights leads to inefficient resource allocation.</a:t>
            </a:r>
          </a:p>
          <a:p>
            <a:pPr algn="l">
              <a:lnSpc>
                <a:spcPts val="3651"/>
              </a:lnSpc>
            </a:pPr>
          </a:p>
          <a:p>
            <a:pPr algn="l">
              <a:lnSpc>
                <a:spcPts val="3651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6761940" y="2761820"/>
            <a:ext cx="4706970" cy="84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0"/>
              </a:lnSpc>
            </a:pPr>
            <a:r>
              <a:rPr lang="en-US" sz="2709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Why Existi</a:t>
            </a:r>
            <a:r>
              <a:rPr lang="en-US" sz="2709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ng Methods Fall Short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78433" y="2704670"/>
            <a:ext cx="4823717" cy="98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0"/>
              </a:lnSpc>
            </a:pPr>
            <a:r>
              <a:rPr lang="en-US" sz="2707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The</a:t>
            </a:r>
            <a:r>
              <a:rPr lang="en-US" sz="2707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Gap in Current Maintenance Systems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9098" y="2746793"/>
            <a:ext cx="4708137" cy="97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9"/>
              </a:lnSpc>
            </a:pPr>
            <a:r>
              <a:rPr lang="en-US" sz="2708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Consequences of Ignoring Predictive Maintenance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75794" y="3524620"/>
            <a:ext cx="4736412" cy="505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3499" indent="-281750" lvl="1">
              <a:lnSpc>
                <a:spcPts val="3651"/>
              </a:lnSpc>
              <a:buFont typeface="Arial"/>
              <a:buChar char="•"/>
            </a:pPr>
            <a:r>
              <a:rPr lang="en-US" sz="261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React</a:t>
            </a:r>
            <a:r>
              <a:rPr lang="en-US" sz="261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ive or scheduled maintenance cannot predict failures in advance.</a:t>
            </a:r>
          </a:p>
          <a:p>
            <a:pPr algn="l" marL="563499" indent="-281750" lvl="1">
              <a:lnSpc>
                <a:spcPts val="3651"/>
              </a:lnSpc>
              <a:buFont typeface="Arial"/>
              <a:buChar char="•"/>
            </a:pPr>
            <a:r>
              <a:rPr lang="en-US" sz="261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Manual inspection and rule-based systems lack accuracy and scalability.</a:t>
            </a:r>
          </a:p>
          <a:p>
            <a:pPr algn="l" marL="563499" indent="-281750" lvl="1">
              <a:lnSpc>
                <a:spcPts val="3651"/>
              </a:lnSpc>
              <a:buFont typeface="Arial"/>
              <a:buChar char="•"/>
            </a:pPr>
            <a:r>
              <a:rPr lang="en-US" sz="261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sz="261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ensor data is complex and time-based, so AI is needed to interpret it.</a:t>
            </a:r>
          </a:p>
          <a:p>
            <a:pPr algn="l">
              <a:lnSpc>
                <a:spcPts val="3651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2393511" y="3630844"/>
            <a:ext cx="4736412" cy="3686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3499" indent="-281750" lvl="1">
              <a:lnSpc>
                <a:spcPts val="3651"/>
              </a:lnSpc>
              <a:buFont typeface="Arial"/>
              <a:buChar char="•"/>
            </a:pPr>
            <a:r>
              <a:rPr lang="en-US" sz="261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N</a:t>
            </a:r>
            <a:r>
              <a:rPr lang="en-US" sz="261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 unified AI framework for RUL estimation.</a:t>
            </a:r>
          </a:p>
          <a:p>
            <a:pPr algn="l" marL="563499" indent="-281750" lvl="1">
              <a:lnSpc>
                <a:spcPts val="3651"/>
              </a:lnSpc>
              <a:buFont typeface="Arial"/>
              <a:buChar char="•"/>
            </a:pPr>
            <a:r>
              <a:rPr lang="en-US" sz="261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Poor integration of models with alerts and visuals.</a:t>
            </a:r>
          </a:p>
          <a:p>
            <a:pPr algn="l" marL="563499" indent="-281750" lvl="1">
              <a:lnSpc>
                <a:spcPts val="3651"/>
              </a:lnSpc>
              <a:buFont typeface="Arial"/>
              <a:buChar char="•"/>
            </a:pPr>
            <a:r>
              <a:rPr lang="en-US" sz="261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Need for a reliable, automated maintenance prediction system.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9258300"/>
            <a:ext cx="18941525" cy="3086100"/>
            <a:chOff x="0" y="0"/>
            <a:chExt cx="4988714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8714" cy="812800"/>
            </a:xfrm>
            <a:custGeom>
              <a:avLst/>
              <a:gdLst/>
              <a:ahLst/>
              <a:cxnLst/>
              <a:rect r="r" b="b" t="t" l="l"/>
              <a:pathLst>
                <a:path h="812800" w="4988714">
                  <a:moveTo>
                    <a:pt x="0" y="0"/>
                  </a:moveTo>
                  <a:lnTo>
                    <a:pt x="4988714" y="0"/>
                  </a:lnTo>
                  <a:lnTo>
                    <a:pt x="49887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A0E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988714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712195" y="9883016"/>
            <a:ext cx="9525" cy="235582"/>
          </a:xfrm>
          <a:custGeom>
            <a:avLst/>
            <a:gdLst/>
            <a:ahLst/>
            <a:cxnLst/>
            <a:rect r="r" b="b" t="t" l="l"/>
            <a:pathLst>
              <a:path h="235582" w="9525">
                <a:moveTo>
                  <a:pt x="0" y="0"/>
                </a:moveTo>
                <a:lnTo>
                  <a:pt x="9525" y="0"/>
                </a:lnTo>
                <a:lnTo>
                  <a:pt x="9525" y="235582"/>
                </a:lnTo>
                <a:lnTo>
                  <a:pt x="0" y="235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8932" t="0" r="-48932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28327" y="217494"/>
            <a:ext cx="1247775" cy="1123950"/>
            <a:chOff x="0" y="0"/>
            <a:chExt cx="1663700" cy="1498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637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1663700">
                  <a:moveTo>
                    <a:pt x="0" y="0"/>
                  </a:moveTo>
                  <a:lnTo>
                    <a:pt x="1663700" y="0"/>
                  </a:lnTo>
                  <a:lnTo>
                    <a:pt x="1663700" y="1498600"/>
                  </a:lnTo>
                  <a:lnTo>
                    <a:pt x="0" y="149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4488" t="0" r="-104488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63503" y="1503998"/>
            <a:ext cx="4010530" cy="150809"/>
          </a:xfrm>
          <a:custGeom>
            <a:avLst/>
            <a:gdLst/>
            <a:ahLst/>
            <a:cxnLst/>
            <a:rect r="r" b="b" t="t" l="l"/>
            <a:pathLst>
              <a:path h="150809" w="4010530">
                <a:moveTo>
                  <a:pt x="0" y="0"/>
                </a:moveTo>
                <a:lnTo>
                  <a:pt x="4010530" y="0"/>
                </a:lnTo>
                <a:lnTo>
                  <a:pt x="4010530" y="150809"/>
                </a:lnTo>
                <a:lnTo>
                  <a:pt x="0" y="1508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14" r="0" b="-41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385036" y="1489710"/>
            <a:ext cx="3966467" cy="150809"/>
          </a:xfrm>
          <a:custGeom>
            <a:avLst/>
            <a:gdLst/>
            <a:ahLst/>
            <a:cxnLst/>
            <a:rect r="r" b="b" t="t" l="l"/>
            <a:pathLst>
              <a:path h="150809" w="3966467">
                <a:moveTo>
                  <a:pt x="0" y="0"/>
                </a:moveTo>
                <a:lnTo>
                  <a:pt x="3966467" y="0"/>
                </a:lnTo>
                <a:lnTo>
                  <a:pt x="3966467" y="150809"/>
                </a:lnTo>
                <a:lnTo>
                  <a:pt x="0" y="1508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458" r="0" b="-458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8735001" y="7313060"/>
            <a:ext cx="2104363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921959" y="6198426"/>
            <a:ext cx="1486039" cy="1645848"/>
          </a:xfrm>
          <a:custGeom>
            <a:avLst/>
            <a:gdLst/>
            <a:ahLst/>
            <a:cxnLst/>
            <a:rect r="r" b="b" t="t" l="l"/>
            <a:pathLst>
              <a:path h="1645848" w="1486039">
                <a:moveTo>
                  <a:pt x="0" y="0"/>
                </a:moveTo>
                <a:lnTo>
                  <a:pt x="1486040" y="0"/>
                </a:lnTo>
                <a:lnTo>
                  <a:pt x="1486040" y="1645848"/>
                </a:lnTo>
                <a:lnTo>
                  <a:pt x="0" y="164584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274653" y="6224061"/>
            <a:ext cx="1648401" cy="1648401"/>
          </a:xfrm>
          <a:custGeom>
            <a:avLst/>
            <a:gdLst/>
            <a:ahLst/>
            <a:cxnLst/>
            <a:rect r="r" b="b" t="t" l="l"/>
            <a:pathLst>
              <a:path h="1648401" w="1648401">
                <a:moveTo>
                  <a:pt x="0" y="0"/>
                </a:moveTo>
                <a:lnTo>
                  <a:pt x="1648402" y="0"/>
                </a:lnTo>
                <a:lnTo>
                  <a:pt x="1648402" y="1648402"/>
                </a:lnTo>
                <a:lnTo>
                  <a:pt x="0" y="164840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268162" y="6256315"/>
            <a:ext cx="1616148" cy="1616148"/>
          </a:xfrm>
          <a:custGeom>
            <a:avLst/>
            <a:gdLst/>
            <a:ahLst/>
            <a:cxnLst/>
            <a:rect r="r" b="b" t="t" l="l"/>
            <a:pathLst>
              <a:path h="1616148" w="1616148">
                <a:moveTo>
                  <a:pt x="0" y="0"/>
                </a:moveTo>
                <a:lnTo>
                  <a:pt x="1616148" y="0"/>
                </a:lnTo>
                <a:lnTo>
                  <a:pt x="1616148" y="1616148"/>
                </a:lnTo>
                <a:lnTo>
                  <a:pt x="0" y="161614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735722" y="6383434"/>
            <a:ext cx="1814799" cy="1580525"/>
          </a:xfrm>
          <a:custGeom>
            <a:avLst/>
            <a:gdLst/>
            <a:ahLst/>
            <a:cxnLst/>
            <a:rect r="r" b="b" t="t" l="l"/>
            <a:pathLst>
              <a:path h="1580525" w="1814799">
                <a:moveTo>
                  <a:pt x="0" y="0"/>
                </a:moveTo>
                <a:lnTo>
                  <a:pt x="1814799" y="0"/>
                </a:lnTo>
                <a:lnTo>
                  <a:pt x="1814799" y="1580525"/>
                </a:lnTo>
                <a:lnTo>
                  <a:pt x="0" y="158052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076468" y="737775"/>
            <a:ext cx="9084247" cy="1416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39"/>
              </a:lnSpc>
            </a:pPr>
            <a:r>
              <a:rPr lang="en-US" sz="7528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Project </a:t>
            </a:r>
            <a:r>
              <a:rPr lang="en-US" sz="7528" b="true">
                <a:solidFill>
                  <a:srgbClr val="00A0E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Objective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15803" y="8178222"/>
            <a:ext cx="1098352" cy="66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5"/>
              </a:lnSpc>
              <a:spcBef>
                <a:spcPct val="0"/>
              </a:spcBef>
            </a:pPr>
            <a:r>
              <a:rPr lang="en-US" b="true" sz="363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74653" y="8178222"/>
            <a:ext cx="2002036" cy="66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5"/>
              </a:lnSpc>
              <a:spcBef>
                <a:spcPct val="0"/>
              </a:spcBef>
            </a:pPr>
            <a:r>
              <a:rPr lang="en-US" b="true" sz="363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AI Model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92934" y="7840134"/>
            <a:ext cx="2366605" cy="1326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1"/>
              </a:lnSpc>
            </a:pPr>
            <a:r>
              <a:rPr lang="en-US" sz="3643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RUL </a:t>
            </a:r>
          </a:p>
          <a:p>
            <a:pPr algn="ctr">
              <a:lnSpc>
                <a:spcPts val="5101"/>
              </a:lnSpc>
              <a:spcBef>
                <a:spcPct val="0"/>
              </a:spcBef>
            </a:pPr>
            <a:r>
              <a:rPr lang="en-US" b="true" sz="3643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Prediction </a:t>
            </a:r>
          </a:p>
        </p:txBody>
      </p:sp>
      <p:sp>
        <p:nvSpPr>
          <p:cNvPr name="AutoShape 19" id="19"/>
          <p:cNvSpPr/>
          <p:nvPr/>
        </p:nvSpPr>
        <p:spPr>
          <a:xfrm>
            <a:off x="13259711" y="7294011"/>
            <a:ext cx="2104363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16060876" y="8178222"/>
            <a:ext cx="1298496" cy="66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5"/>
              </a:lnSpc>
              <a:spcBef>
                <a:spcPct val="0"/>
              </a:spcBef>
            </a:pPr>
            <a:r>
              <a:rPr lang="en-US" b="true" sz="363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Alerts</a:t>
            </a:r>
          </a:p>
        </p:txBody>
      </p:sp>
      <p:sp>
        <p:nvSpPr>
          <p:cNvPr name="AutoShape 21" id="21"/>
          <p:cNvSpPr/>
          <p:nvPr/>
        </p:nvSpPr>
        <p:spPr>
          <a:xfrm>
            <a:off x="3408171" y="7274961"/>
            <a:ext cx="2104363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2" id="22"/>
          <p:cNvSpPr txBox="true"/>
          <p:nvPr/>
        </p:nvSpPr>
        <p:spPr>
          <a:xfrm rot="0">
            <a:off x="0" y="2921445"/>
            <a:ext cx="18288000" cy="231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3499" indent="-281750" lvl="1">
              <a:lnSpc>
                <a:spcPts val="3653"/>
              </a:lnSpc>
              <a:spcBef>
                <a:spcPct val="0"/>
              </a:spcBef>
              <a:buFont typeface="Arial"/>
              <a:buChar char="•"/>
            </a:pPr>
            <a:r>
              <a:rPr lang="en-US" sz="261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Develop an AI-based predictive maintenance system capable of f</a:t>
            </a:r>
            <a:r>
              <a:rPr lang="en-US" sz="261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orecasting the Remaining Useful Life (RUL) of industrial components.</a:t>
            </a:r>
          </a:p>
          <a:p>
            <a:pPr algn="l" marL="563499" indent="-281750" lvl="1">
              <a:lnSpc>
                <a:spcPts val="3653"/>
              </a:lnSpc>
              <a:spcBef>
                <a:spcPct val="0"/>
              </a:spcBef>
              <a:buFont typeface="Arial"/>
              <a:buChar char="•"/>
            </a:pPr>
            <a:r>
              <a:rPr lang="en-US" sz="261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Enable data-driven maintenance decisions to reduce downtime and optimize asset utilization.</a:t>
            </a:r>
          </a:p>
          <a:p>
            <a:pPr algn="l" marL="563499" indent="-281750" lvl="1">
              <a:lnSpc>
                <a:spcPts val="3653"/>
              </a:lnSpc>
              <a:spcBef>
                <a:spcPct val="0"/>
              </a:spcBef>
              <a:buFont typeface="Arial"/>
              <a:buChar char="•"/>
            </a:pPr>
            <a:r>
              <a:rPr lang="en-US" sz="261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Leverage deep learning models (Bi-LSTM) to capture time-dependent degradation patterns from sensor data.</a:t>
            </a:r>
          </a:p>
          <a:p>
            <a:pPr algn="l">
              <a:lnSpc>
                <a:spcPts val="365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9258300"/>
            <a:ext cx="18941525" cy="3086100"/>
            <a:chOff x="0" y="0"/>
            <a:chExt cx="4988714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8714" cy="812800"/>
            </a:xfrm>
            <a:custGeom>
              <a:avLst/>
              <a:gdLst/>
              <a:ahLst/>
              <a:cxnLst/>
              <a:rect r="r" b="b" t="t" l="l"/>
              <a:pathLst>
                <a:path h="812800" w="4988714">
                  <a:moveTo>
                    <a:pt x="0" y="0"/>
                  </a:moveTo>
                  <a:lnTo>
                    <a:pt x="4988714" y="0"/>
                  </a:lnTo>
                  <a:lnTo>
                    <a:pt x="49887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A0E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988714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98225" y="2796546"/>
            <a:ext cx="17989775" cy="5899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3"/>
              </a:lnSpc>
            </a:pPr>
            <a:r>
              <a:rPr lang="en-US" sz="369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Objective: Prepare data for sequence learning and RUL prediction.</a:t>
            </a:r>
          </a:p>
          <a:p>
            <a:pPr algn="l" marL="797797" indent="-398898" lvl="1">
              <a:lnSpc>
                <a:spcPts val="5173"/>
              </a:lnSpc>
              <a:buFont typeface="Arial"/>
              <a:buChar char="•"/>
            </a:pPr>
            <a:r>
              <a:rPr lang="en-US" sz="369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Loaded and cleaned the CMAPSS dataset (train_FD001_processed.csv).</a:t>
            </a:r>
          </a:p>
          <a:p>
            <a:pPr algn="l" marL="797797" indent="-398898" lvl="1">
              <a:lnSpc>
                <a:spcPts val="5173"/>
              </a:lnSpc>
              <a:buFont typeface="Arial"/>
              <a:buChar char="•"/>
            </a:pPr>
            <a:r>
              <a:rPr lang="en-US" sz="369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Generated 50-cycle rolling window sequences for each engine unit.</a:t>
            </a:r>
          </a:p>
          <a:p>
            <a:pPr algn="l" marL="797797" indent="-398898" lvl="1">
              <a:lnSpc>
                <a:spcPts val="5173"/>
              </a:lnSpc>
              <a:buFont typeface="Arial"/>
              <a:buChar char="•"/>
            </a:pPr>
            <a:r>
              <a:rPr lang="en-US" sz="369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Computed and clipped RUL values at 100 cycles to handle outliers.</a:t>
            </a:r>
          </a:p>
          <a:p>
            <a:pPr algn="l" marL="797797" indent="-398898" lvl="1">
              <a:lnSpc>
                <a:spcPts val="5173"/>
              </a:lnSpc>
              <a:buFont typeface="Arial"/>
              <a:buChar char="•"/>
            </a:pPr>
            <a:r>
              <a:rPr lang="en-US" sz="369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Split the data into train, validation, and test sets using GroupShuffleSplit to ensure unit-level separation.</a:t>
            </a:r>
          </a:p>
          <a:p>
            <a:pPr algn="l" marL="797797" indent="-398898" lvl="1">
              <a:lnSpc>
                <a:spcPts val="5173"/>
              </a:lnSpc>
              <a:buFont typeface="Arial"/>
              <a:buChar char="•"/>
            </a:pPr>
            <a:r>
              <a:rPr lang="en-US" sz="369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Created structured feature matrices (X, y, and groups) ready for model training.</a:t>
            </a:r>
          </a:p>
          <a:p>
            <a:pPr algn="l">
              <a:lnSpc>
                <a:spcPts val="517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98225" y="-81076"/>
            <a:ext cx="17989775" cy="275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39"/>
              </a:lnSpc>
            </a:pPr>
            <a:r>
              <a:rPr lang="en-US" sz="7528" b="true">
                <a:solidFill>
                  <a:srgbClr val="00A0E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Milestone 1:</a:t>
            </a:r>
            <a:r>
              <a:rPr lang="en-US" sz="7528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Data Prepara</a:t>
            </a:r>
            <a:r>
              <a:rPr lang="en-US" sz="7528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</a:t>
            </a:r>
            <a:r>
              <a:rPr lang="en-US" sz="7528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ion &amp; Fe</a:t>
            </a:r>
            <a:r>
              <a:rPr lang="en-US" sz="7528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sz="7528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tur</a:t>
            </a:r>
            <a:r>
              <a:rPr lang="en-US" sz="7528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</a:t>
            </a:r>
            <a:r>
              <a:rPr lang="en-US" sz="7528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E</a:t>
            </a:r>
            <a:r>
              <a:rPr lang="en-US" sz="7528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ng</a:t>
            </a:r>
            <a:r>
              <a:rPr lang="en-US" sz="7528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</a:t>
            </a:r>
            <a:r>
              <a:rPr lang="en-US" sz="7528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</a:t>
            </a:r>
            <a:r>
              <a:rPr lang="en-US" sz="7528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ering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998612"/>
            <a:ext cx="16361578" cy="19050"/>
          </a:xfrm>
          <a:custGeom>
            <a:avLst/>
            <a:gdLst/>
            <a:ahLst/>
            <a:cxnLst/>
            <a:rect r="r" b="b" t="t" l="l"/>
            <a:pathLst>
              <a:path h="19050" w="16361578">
                <a:moveTo>
                  <a:pt x="0" y="0"/>
                </a:moveTo>
                <a:lnTo>
                  <a:pt x="16361578" y="0"/>
                </a:lnTo>
                <a:lnTo>
                  <a:pt x="1636157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4989" r="0" b="-2498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12195" y="9883016"/>
            <a:ext cx="9525" cy="235582"/>
          </a:xfrm>
          <a:custGeom>
            <a:avLst/>
            <a:gdLst/>
            <a:ahLst/>
            <a:cxnLst/>
            <a:rect r="r" b="b" t="t" l="l"/>
            <a:pathLst>
              <a:path h="235582" w="9525">
                <a:moveTo>
                  <a:pt x="0" y="0"/>
                </a:moveTo>
                <a:lnTo>
                  <a:pt x="9525" y="0"/>
                </a:lnTo>
                <a:lnTo>
                  <a:pt x="9525" y="235582"/>
                </a:lnTo>
                <a:lnTo>
                  <a:pt x="0" y="235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8932" t="0" r="-48932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28327" y="217494"/>
            <a:ext cx="1247775" cy="1123950"/>
            <a:chOff x="0" y="0"/>
            <a:chExt cx="1663700" cy="1498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637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1663700">
                  <a:moveTo>
                    <a:pt x="0" y="0"/>
                  </a:moveTo>
                  <a:lnTo>
                    <a:pt x="1663700" y="0"/>
                  </a:lnTo>
                  <a:lnTo>
                    <a:pt x="1663700" y="1498600"/>
                  </a:lnTo>
                  <a:lnTo>
                    <a:pt x="0" y="149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04488" t="0" r="-104488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14350" y="9258300"/>
            <a:ext cx="18941525" cy="3086100"/>
            <a:chOff x="0" y="0"/>
            <a:chExt cx="4988714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88714" cy="812800"/>
            </a:xfrm>
            <a:custGeom>
              <a:avLst/>
              <a:gdLst/>
              <a:ahLst/>
              <a:cxnLst/>
              <a:rect r="r" b="b" t="t" l="l"/>
              <a:pathLst>
                <a:path h="812800" w="4988714">
                  <a:moveTo>
                    <a:pt x="0" y="0"/>
                  </a:moveTo>
                  <a:lnTo>
                    <a:pt x="4988714" y="0"/>
                  </a:lnTo>
                  <a:lnTo>
                    <a:pt x="49887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A0E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4988714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3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608279" y="5162550"/>
            <a:ext cx="4491757" cy="0"/>
          </a:xfrm>
          <a:prstGeom prst="line">
            <a:avLst/>
          </a:prstGeom>
          <a:ln cap="flat" w="38100">
            <a:solidFill>
              <a:srgbClr val="000000">
                <a:alpha val="5882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3096162" y="5639086"/>
            <a:ext cx="5148469" cy="28575"/>
          </a:xfrm>
          <a:prstGeom prst="line">
            <a:avLst/>
          </a:prstGeom>
          <a:ln cap="flat" w="38100">
            <a:solidFill>
              <a:srgbClr val="000000">
                <a:alpha val="5882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5390790" y="3085096"/>
            <a:ext cx="7414511" cy="4116809"/>
          </a:xfrm>
          <a:custGeom>
            <a:avLst/>
            <a:gdLst/>
            <a:ahLst/>
            <a:cxnLst/>
            <a:rect r="r" b="b" t="t" l="l"/>
            <a:pathLst>
              <a:path h="4116809" w="7414511">
                <a:moveTo>
                  <a:pt x="0" y="0"/>
                </a:moveTo>
                <a:lnTo>
                  <a:pt x="7414512" y="0"/>
                </a:lnTo>
                <a:lnTo>
                  <a:pt x="7414512" y="4116808"/>
                </a:lnTo>
                <a:lnTo>
                  <a:pt x="0" y="41168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97548" y="1896842"/>
            <a:ext cx="4876295" cy="109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8" b="true">
                <a:solidFill>
                  <a:srgbClr val="00A0E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Bidirectional LSTM Architecture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1355" y="2929049"/>
            <a:ext cx="4528681" cy="2176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4086" indent="-192043" lvl="1">
              <a:lnSpc>
                <a:spcPts val="2474"/>
              </a:lnSpc>
              <a:buFont typeface="Arial"/>
              <a:buChar char="•"/>
            </a:pPr>
            <a:r>
              <a:rPr lang="en-US" b="true" sz="177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</a:t>
            </a:r>
            <a:r>
              <a:rPr lang="en-US" b="true" sz="177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earns forward and backward temporal dependencies for accurate RUL prediction.</a:t>
            </a:r>
          </a:p>
          <a:p>
            <a:pPr algn="l" marL="384086" indent="-192043" lvl="1">
              <a:lnSpc>
                <a:spcPts val="2475"/>
              </a:lnSpc>
              <a:buFont typeface="Arial"/>
              <a:buChar char="•"/>
            </a:pPr>
            <a:r>
              <a:rPr lang="en-US" b="true" sz="177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Handles sequential degradation trends effectively using 50-cycle input sequences.</a:t>
            </a:r>
          </a:p>
          <a:p>
            <a:pPr algn="l">
              <a:lnSpc>
                <a:spcPts val="247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3383912" y="2872251"/>
            <a:ext cx="4645737" cy="2166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4086" indent="-192043" lvl="1">
              <a:lnSpc>
                <a:spcPts val="2474"/>
              </a:lnSpc>
              <a:buFont typeface="Arial"/>
              <a:buChar char="•"/>
            </a:pPr>
            <a:r>
              <a:rPr lang="en-US" b="true" sz="177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Lo</a:t>
            </a:r>
            <a:r>
              <a:rPr lang="en-US" b="true" sz="177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ss Function: Mean Squared Error (MSE)</a:t>
            </a:r>
          </a:p>
          <a:p>
            <a:pPr algn="l" marL="384086" indent="-192043" lvl="1">
              <a:lnSpc>
                <a:spcPts val="2474"/>
              </a:lnSpc>
              <a:buFont typeface="Arial"/>
              <a:buChar char="•"/>
            </a:pPr>
            <a:r>
              <a:rPr lang="en-US" b="true" sz="177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Metrics: Root Mean Squared Error (RMSE), Mean Absolute Error (MAE)</a:t>
            </a:r>
          </a:p>
          <a:p>
            <a:pPr algn="l" marL="384086" indent="-192043" lvl="1">
              <a:lnSpc>
                <a:spcPts val="2475"/>
              </a:lnSpc>
              <a:buFont typeface="Arial"/>
              <a:buChar char="•"/>
            </a:pPr>
            <a:r>
              <a:rPr lang="en-US" b="true" sz="177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Minimizes overfitting through dropout and bidirectional context learning.</a:t>
            </a:r>
          </a:p>
          <a:p>
            <a:pPr algn="l">
              <a:lnSpc>
                <a:spcPts val="2474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3096056" y="1896842"/>
            <a:ext cx="5331119" cy="109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8"/>
              </a:lnSpc>
            </a:pPr>
            <a:r>
              <a:rPr lang="en-US" sz="2998" b="true">
                <a:solidFill>
                  <a:srgbClr val="00A0E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Performance-Oriented D</a:t>
            </a:r>
            <a:r>
              <a:rPr lang="en-US" sz="2998" b="true">
                <a:solidFill>
                  <a:srgbClr val="00A0E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esign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4856" y="187072"/>
            <a:ext cx="17989775" cy="1416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39"/>
              </a:lnSpc>
            </a:pPr>
            <a:r>
              <a:rPr lang="en-US" sz="7528" b="true">
                <a:solidFill>
                  <a:srgbClr val="00A0E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Milestone 2: </a:t>
            </a:r>
            <a:r>
              <a:rPr lang="en-US" sz="7528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Model Development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4473" y="5362156"/>
            <a:ext cx="4876295" cy="109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8" b="true">
                <a:solidFill>
                  <a:srgbClr val="00A0E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Optimized Training Pipeline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2087" y="6682285"/>
            <a:ext cx="4528681" cy="2176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4086" indent="-192043" lvl="1">
              <a:lnSpc>
                <a:spcPts val="2474"/>
              </a:lnSpc>
              <a:buFont typeface="Arial"/>
              <a:buChar char="•"/>
            </a:pPr>
            <a:r>
              <a:rPr lang="en-US" b="true" sz="177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Optimiz</a:t>
            </a:r>
            <a:r>
              <a:rPr lang="en-US" b="true" sz="177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er: Adam (learning rate = 0.0005)</a:t>
            </a:r>
          </a:p>
          <a:p>
            <a:pPr algn="l" marL="384086" indent="-192043" lvl="1">
              <a:lnSpc>
                <a:spcPts val="2474"/>
              </a:lnSpc>
              <a:buFont typeface="Arial"/>
              <a:buChar char="•"/>
            </a:pPr>
            <a:r>
              <a:rPr lang="en-US" b="true" sz="177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Epochs: 150 | Batch Size: 64</a:t>
            </a:r>
          </a:p>
          <a:p>
            <a:pPr algn="l" marL="384086" indent="-192043" lvl="1">
              <a:lnSpc>
                <a:spcPts val="2475"/>
              </a:lnSpc>
              <a:buFont typeface="Arial"/>
              <a:buChar char="•"/>
            </a:pPr>
            <a:r>
              <a:rPr lang="en-US" b="true" sz="177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</a:t>
            </a:r>
            <a:r>
              <a:rPr lang="en-US" b="true" sz="177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allbacks: EarlyStopping &amp; ModelCheckpoint for stable convergence</a:t>
            </a:r>
          </a:p>
          <a:p>
            <a:pPr algn="l">
              <a:lnSpc>
                <a:spcPts val="2474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3383912" y="5837542"/>
            <a:ext cx="5331119" cy="560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8"/>
              </a:lnSpc>
            </a:pPr>
            <a:r>
              <a:rPr lang="en-US" sz="2998" b="true">
                <a:solidFill>
                  <a:srgbClr val="00A0E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Outcome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383912" y="6682285"/>
            <a:ext cx="4645737" cy="2166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4086" indent="-192043" lvl="1">
              <a:lnSpc>
                <a:spcPts val="2474"/>
              </a:lnSpc>
              <a:buFont typeface="Arial"/>
              <a:buChar char="•"/>
            </a:pPr>
            <a:r>
              <a:rPr lang="en-US" b="true" sz="177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Succe</a:t>
            </a:r>
            <a:r>
              <a:rPr lang="en-US" b="true" sz="177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ssfully trained Bi-LSTM model with smooth loss convergence.</a:t>
            </a:r>
          </a:p>
          <a:p>
            <a:pPr algn="l" marL="384086" indent="-192043" lvl="1">
              <a:lnSpc>
                <a:spcPts val="2474"/>
              </a:lnSpc>
              <a:buFont typeface="Arial"/>
              <a:buChar char="•"/>
            </a:pPr>
            <a:r>
              <a:rPr lang="en-US" b="true" sz="177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Model effectively learns temporal degradation patterns.</a:t>
            </a:r>
          </a:p>
          <a:p>
            <a:pPr algn="l" marL="384086" indent="-192043" lvl="1">
              <a:lnSpc>
                <a:spcPts val="2475"/>
              </a:lnSpc>
              <a:buFont typeface="Arial"/>
              <a:buChar char="•"/>
            </a:pPr>
            <a:r>
              <a:rPr lang="en-US" b="true" sz="177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Achieved high accuracy and robust generalization on unseen test data.</a:t>
            </a:r>
          </a:p>
          <a:p>
            <a:pPr algn="l">
              <a:lnSpc>
                <a:spcPts val="2474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1764" y="5468110"/>
            <a:ext cx="3848011" cy="3562452"/>
            <a:chOff x="0" y="0"/>
            <a:chExt cx="5550510" cy="51386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50479" cy="5138609"/>
            </a:xfrm>
            <a:custGeom>
              <a:avLst/>
              <a:gdLst/>
              <a:ahLst/>
              <a:cxnLst/>
              <a:rect r="r" b="b" t="t" l="l"/>
              <a:pathLst>
                <a:path h="5138609" w="5550479">
                  <a:moveTo>
                    <a:pt x="0" y="0"/>
                  </a:moveTo>
                  <a:lnTo>
                    <a:pt x="5550479" y="0"/>
                  </a:lnTo>
                  <a:lnTo>
                    <a:pt x="5550479" y="5138609"/>
                  </a:lnTo>
                  <a:lnTo>
                    <a:pt x="0" y="5138609"/>
                  </a:lnTo>
                  <a:close/>
                </a:path>
              </a:pathLst>
            </a:custGeom>
            <a:solidFill>
              <a:srgbClr val="A9E4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14350" y="9258300"/>
            <a:ext cx="18941525" cy="3086100"/>
            <a:chOff x="0" y="0"/>
            <a:chExt cx="4988714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88714" cy="812800"/>
            </a:xfrm>
            <a:custGeom>
              <a:avLst/>
              <a:gdLst/>
              <a:ahLst/>
              <a:cxnLst/>
              <a:rect r="r" b="b" t="t" l="l"/>
              <a:pathLst>
                <a:path h="812800" w="4988714">
                  <a:moveTo>
                    <a:pt x="0" y="0"/>
                  </a:moveTo>
                  <a:lnTo>
                    <a:pt x="4988714" y="0"/>
                  </a:lnTo>
                  <a:lnTo>
                    <a:pt x="49887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A0E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4988714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21764" y="1496083"/>
            <a:ext cx="3848011" cy="3562452"/>
            <a:chOff x="0" y="0"/>
            <a:chExt cx="5550510" cy="51386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50479" cy="5138609"/>
            </a:xfrm>
            <a:custGeom>
              <a:avLst/>
              <a:gdLst/>
              <a:ahLst/>
              <a:cxnLst/>
              <a:rect r="r" b="b" t="t" l="l"/>
              <a:pathLst>
                <a:path h="5138609" w="5550479">
                  <a:moveTo>
                    <a:pt x="0" y="0"/>
                  </a:moveTo>
                  <a:lnTo>
                    <a:pt x="5550479" y="0"/>
                  </a:lnTo>
                  <a:lnTo>
                    <a:pt x="5550479" y="5138609"/>
                  </a:lnTo>
                  <a:lnTo>
                    <a:pt x="0" y="5138609"/>
                  </a:lnTo>
                  <a:close/>
                </a:path>
              </a:pathLst>
            </a:custGeom>
            <a:solidFill>
              <a:srgbClr val="A9E4FE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4418413" y="3763575"/>
            <a:ext cx="3848011" cy="3562452"/>
            <a:chOff x="0" y="0"/>
            <a:chExt cx="5550510" cy="51386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50479" cy="5138609"/>
            </a:xfrm>
            <a:custGeom>
              <a:avLst/>
              <a:gdLst/>
              <a:ahLst/>
              <a:cxnLst/>
              <a:rect r="r" b="b" t="t" l="l"/>
              <a:pathLst>
                <a:path h="5138609" w="5550479">
                  <a:moveTo>
                    <a:pt x="0" y="0"/>
                  </a:moveTo>
                  <a:lnTo>
                    <a:pt x="5550479" y="0"/>
                  </a:lnTo>
                  <a:lnTo>
                    <a:pt x="5550479" y="5138609"/>
                  </a:lnTo>
                  <a:lnTo>
                    <a:pt x="0" y="5138609"/>
                  </a:lnTo>
                  <a:close/>
                </a:path>
              </a:pathLst>
            </a:custGeom>
            <a:solidFill>
              <a:srgbClr val="A9E4FE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8514075" y="1660276"/>
            <a:ext cx="9312635" cy="5999956"/>
          </a:xfrm>
          <a:custGeom>
            <a:avLst/>
            <a:gdLst/>
            <a:ahLst/>
            <a:cxnLst/>
            <a:rect r="r" b="b" t="t" l="l"/>
            <a:pathLst>
              <a:path h="5999956" w="9312635">
                <a:moveTo>
                  <a:pt x="0" y="0"/>
                </a:moveTo>
                <a:lnTo>
                  <a:pt x="9312635" y="0"/>
                </a:lnTo>
                <a:lnTo>
                  <a:pt x="9312635" y="5999956"/>
                </a:lnTo>
                <a:lnTo>
                  <a:pt x="0" y="59999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-1077348" y="-22177"/>
            <a:ext cx="20978993" cy="15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39"/>
              </a:lnSpc>
            </a:pPr>
            <a:r>
              <a:rPr lang="en-US" sz="8099" b="true">
                <a:solidFill>
                  <a:srgbClr val="00A0E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Milestone 3:</a:t>
            </a:r>
            <a:r>
              <a:rPr lang="en-US" sz="8099" b="true">
                <a:solidFill>
                  <a:srgbClr val="212F3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8099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Model Evaluation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1764" y="1811235"/>
            <a:ext cx="3678196" cy="51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8"/>
              </a:lnSpc>
            </a:pPr>
            <a:r>
              <a:rPr lang="en-US" b="true" sz="2556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RMSE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1764" y="5750046"/>
            <a:ext cx="3678196" cy="476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2"/>
              </a:lnSpc>
            </a:pPr>
            <a:r>
              <a:rPr lang="en-US" b="true" sz="2356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03321" y="4042091"/>
            <a:ext cx="3678196" cy="476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2"/>
              </a:lnSpc>
            </a:pPr>
            <a:r>
              <a:rPr lang="en-US" b="true" sz="2356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R²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8985" y="2488554"/>
            <a:ext cx="3773571" cy="2473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8"/>
              </a:lnSpc>
              <a:spcBef>
                <a:spcPct val="0"/>
              </a:spcBef>
            </a:pPr>
            <a:r>
              <a:rPr lang="en-US" sz="235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</a:t>
            </a:r>
            <a:r>
              <a:rPr lang="en-US" sz="235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easures the square root of the average squared differences between predicted and actual RUL values — penalizes large errors heavily.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7953" y="6485541"/>
            <a:ext cx="3715634" cy="2428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0"/>
              </a:lnSpc>
              <a:spcBef>
                <a:spcPct val="0"/>
              </a:spcBef>
            </a:pPr>
            <a:r>
              <a:rPr lang="en-US" sz="228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Re</a:t>
            </a:r>
            <a:r>
              <a:rPr lang="en-US" sz="228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presents the average of absolute differences between predicted and actual values — provides an easy-to-interpret measure of overall error.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18413" y="4775230"/>
            <a:ext cx="3773571" cy="2474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6"/>
              </a:lnSpc>
              <a:spcBef>
                <a:spcPct val="0"/>
              </a:spcBef>
            </a:pPr>
            <a:r>
              <a:rPr lang="en-US" sz="235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Indicates how w</a:t>
            </a:r>
            <a:r>
              <a:rPr lang="en-US" sz="235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ell the model explains the variance in actual RUL values — closer to 1 means stro</a:t>
            </a:r>
            <a:r>
              <a:rPr lang="en-US" sz="235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ng</a:t>
            </a:r>
            <a:r>
              <a:rPr lang="en-US" sz="235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</a:t>
            </a:r>
            <a:r>
              <a:rPr lang="en-US" sz="235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r predi</a:t>
            </a:r>
            <a:r>
              <a:rPr lang="en-US" sz="235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cti</a:t>
            </a:r>
            <a:r>
              <a:rPr lang="en-US" sz="235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ve</a:t>
            </a:r>
            <a:r>
              <a:rPr lang="en-US" sz="235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acc</a:t>
            </a:r>
            <a:r>
              <a:rPr lang="en-US" sz="235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uracy.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0" y="7793582"/>
            <a:ext cx="3556278" cy="123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Final Test RMSE: 7.9447</a:t>
            </a:r>
            <a:r>
              <a:rPr lang="en-US" sz="23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Final Test MAE: 5.3960 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Final Test R² Score: 0.9438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9258300"/>
            <a:ext cx="18941525" cy="3086100"/>
            <a:chOff x="0" y="0"/>
            <a:chExt cx="4988714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8714" cy="812800"/>
            </a:xfrm>
            <a:custGeom>
              <a:avLst/>
              <a:gdLst/>
              <a:ahLst/>
              <a:cxnLst/>
              <a:rect r="r" b="b" t="t" l="l"/>
              <a:pathLst>
                <a:path h="812800" w="4988714">
                  <a:moveTo>
                    <a:pt x="0" y="0"/>
                  </a:moveTo>
                  <a:lnTo>
                    <a:pt x="4988714" y="0"/>
                  </a:lnTo>
                  <a:lnTo>
                    <a:pt x="49887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A0E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988714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-285750"/>
            <a:ext cx="20978993" cy="295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38"/>
              </a:lnSpc>
            </a:pPr>
            <a:r>
              <a:rPr lang="en-US" sz="8099" b="true">
                <a:solidFill>
                  <a:srgbClr val="00A0E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Milestone 4:</a:t>
            </a:r>
            <a:r>
              <a:rPr lang="en-US" sz="8099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Risk Thresholding &amp; </a:t>
            </a:r>
          </a:p>
          <a:p>
            <a:pPr algn="l">
              <a:lnSpc>
                <a:spcPts val="11339"/>
              </a:lnSpc>
            </a:pPr>
            <a:r>
              <a:rPr lang="en-US" sz="8099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Alerts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90990" y="2640238"/>
            <a:ext cx="6165363" cy="2523128"/>
            <a:chOff x="0" y="0"/>
            <a:chExt cx="1608323" cy="6581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8323" cy="658194"/>
            </a:xfrm>
            <a:custGeom>
              <a:avLst/>
              <a:gdLst/>
              <a:ahLst/>
              <a:cxnLst/>
              <a:rect r="r" b="b" t="t" l="l"/>
              <a:pathLst>
                <a:path h="658194" w="1608323">
                  <a:moveTo>
                    <a:pt x="26370" y="0"/>
                  </a:moveTo>
                  <a:lnTo>
                    <a:pt x="1581953" y="0"/>
                  </a:lnTo>
                  <a:cubicBezTo>
                    <a:pt x="1596516" y="0"/>
                    <a:pt x="1608323" y="11806"/>
                    <a:pt x="1608323" y="26370"/>
                  </a:cubicBezTo>
                  <a:lnTo>
                    <a:pt x="1608323" y="631824"/>
                  </a:lnTo>
                  <a:cubicBezTo>
                    <a:pt x="1608323" y="638818"/>
                    <a:pt x="1605544" y="645525"/>
                    <a:pt x="1600599" y="650470"/>
                  </a:cubicBezTo>
                  <a:cubicBezTo>
                    <a:pt x="1595654" y="655416"/>
                    <a:pt x="1588946" y="658194"/>
                    <a:pt x="1581953" y="658194"/>
                  </a:cubicBezTo>
                  <a:lnTo>
                    <a:pt x="26370" y="658194"/>
                  </a:lnTo>
                  <a:cubicBezTo>
                    <a:pt x="19376" y="658194"/>
                    <a:pt x="12669" y="655416"/>
                    <a:pt x="7724" y="650470"/>
                  </a:cubicBezTo>
                  <a:cubicBezTo>
                    <a:pt x="2778" y="645525"/>
                    <a:pt x="0" y="638818"/>
                    <a:pt x="0" y="631824"/>
                  </a:cubicBezTo>
                  <a:lnTo>
                    <a:pt x="0" y="26370"/>
                  </a:lnTo>
                  <a:cubicBezTo>
                    <a:pt x="0" y="19376"/>
                    <a:pt x="2778" y="12669"/>
                    <a:pt x="7724" y="7724"/>
                  </a:cubicBezTo>
                  <a:cubicBezTo>
                    <a:pt x="12669" y="2778"/>
                    <a:pt x="19376" y="0"/>
                    <a:pt x="26370" y="0"/>
                  </a:cubicBezTo>
                  <a:close/>
                </a:path>
              </a:pathLst>
            </a:custGeom>
            <a:solidFill>
              <a:srgbClr val="00A0E5"/>
            </a:solidFill>
            <a:ln w="1143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38100"/>
              <a:ext cx="1608323" cy="620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5"/>
                </a:lnSpc>
              </a:pPr>
              <a:r>
                <a:rPr lang="en-US" sz="3699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Objective: Translate RUL predictions into actionable maintenance alerts.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56646" y="5233653"/>
            <a:ext cx="5458428" cy="1059180"/>
            <a:chOff x="0" y="0"/>
            <a:chExt cx="1423908" cy="2763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23908" cy="276302"/>
            </a:xfrm>
            <a:custGeom>
              <a:avLst/>
              <a:gdLst/>
              <a:ahLst/>
              <a:cxnLst/>
              <a:rect r="r" b="b" t="t" l="l"/>
              <a:pathLst>
                <a:path h="276302" w="1423908">
                  <a:moveTo>
                    <a:pt x="29785" y="0"/>
                  </a:moveTo>
                  <a:lnTo>
                    <a:pt x="1394123" y="0"/>
                  </a:lnTo>
                  <a:cubicBezTo>
                    <a:pt x="1410573" y="0"/>
                    <a:pt x="1423908" y="13335"/>
                    <a:pt x="1423908" y="29785"/>
                  </a:cubicBezTo>
                  <a:lnTo>
                    <a:pt x="1423908" y="246517"/>
                  </a:lnTo>
                  <a:cubicBezTo>
                    <a:pt x="1423908" y="262967"/>
                    <a:pt x="1410573" y="276302"/>
                    <a:pt x="1394123" y="276302"/>
                  </a:cubicBezTo>
                  <a:lnTo>
                    <a:pt x="29785" y="276302"/>
                  </a:lnTo>
                  <a:cubicBezTo>
                    <a:pt x="13335" y="276302"/>
                    <a:pt x="0" y="262967"/>
                    <a:pt x="0" y="246517"/>
                  </a:cubicBezTo>
                  <a:lnTo>
                    <a:pt x="0" y="29785"/>
                  </a:lnTo>
                  <a:cubicBezTo>
                    <a:pt x="0" y="13335"/>
                    <a:pt x="13335" y="0"/>
                    <a:pt x="2978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A0E5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1423908" cy="247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  <a:r>
                <a:rPr lang="en-US" sz="3000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Warning Zone: RUL &lt; 40 cycles ⚠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44458" y="6681243"/>
            <a:ext cx="5458428" cy="1059180"/>
            <a:chOff x="0" y="0"/>
            <a:chExt cx="1423908" cy="2763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3908" cy="276302"/>
            </a:xfrm>
            <a:custGeom>
              <a:avLst/>
              <a:gdLst/>
              <a:ahLst/>
              <a:cxnLst/>
              <a:rect r="r" b="b" t="t" l="l"/>
              <a:pathLst>
                <a:path h="276302" w="1423908">
                  <a:moveTo>
                    <a:pt x="29785" y="0"/>
                  </a:moveTo>
                  <a:lnTo>
                    <a:pt x="1394123" y="0"/>
                  </a:lnTo>
                  <a:cubicBezTo>
                    <a:pt x="1410573" y="0"/>
                    <a:pt x="1423908" y="13335"/>
                    <a:pt x="1423908" y="29785"/>
                  </a:cubicBezTo>
                  <a:lnTo>
                    <a:pt x="1423908" y="246517"/>
                  </a:lnTo>
                  <a:cubicBezTo>
                    <a:pt x="1423908" y="262967"/>
                    <a:pt x="1410573" y="276302"/>
                    <a:pt x="1394123" y="276302"/>
                  </a:cubicBezTo>
                  <a:lnTo>
                    <a:pt x="29785" y="276302"/>
                  </a:lnTo>
                  <a:cubicBezTo>
                    <a:pt x="13335" y="276302"/>
                    <a:pt x="0" y="262967"/>
                    <a:pt x="0" y="246517"/>
                  </a:cubicBezTo>
                  <a:lnTo>
                    <a:pt x="0" y="29785"/>
                  </a:lnTo>
                  <a:cubicBezTo>
                    <a:pt x="0" y="13335"/>
                    <a:pt x="13335" y="0"/>
                    <a:pt x="2978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A0E5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1423908" cy="247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  <a:r>
                <a:rPr lang="en-US" sz="3000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Critical Zone: RUL &lt; 20 cycles 🚨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44458" y="8130948"/>
            <a:ext cx="5458428" cy="1059180"/>
            <a:chOff x="0" y="0"/>
            <a:chExt cx="1423908" cy="2763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23908" cy="276302"/>
            </a:xfrm>
            <a:custGeom>
              <a:avLst/>
              <a:gdLst/>
              <a:ahLst/>
              <a:cxnLst/>
              <a:rect r="r" b="b" t="t" l="l"/>
              <a:pathLst>
                <a:path h="276302" w="1423908">
                  <a:moveTo>
                    <a:pt x="29785" y="0"/>
                  </a:moveTo>
                  <a:lnTo>
                    <a:pt x="1394123" y="0"/>
                  </a:lnTo>
                  <a:cubicBezTo>
                    <a:pt x="1410573" y="0"/>
                    <a:pt x="1423908" y="13335"/>
                    <a:pt x="1423908" y="29785"/>
                  </a:cubicBezTo>
                  <a:lnTo>
                    <a:pt x="1423908" y="246517"/>
                  </a:lnTo>
                  <a:cubicBezTo>
                    <a:pt x="1423908" y="262967"/>
                    <a:pt x="1410573" y="276302"/>
                    <a:pt x="1394123" y="276302"/>
                  </a:cubicBezTo>
                  <a:lnTo>
                    <a:pt x="29785" y="276302"/>
                  </a:lnTo>
                  <a:cubicBezTo>
                    <a:pt x="13335" y="276302"/>
                    <a:pt x="0" y="262967"/>
                    <a:pt x="0" y="246517"/>
                  </a:cubicBezTo>
                  <a:lnTo>
                    <a:pt x="0" y="29785"/>
                  </a:lnTo>
                  <a:cubicBezTo>
                    <a:pt x="0" y="13335"/>
                    <a:pt x="13335" y="0"/>
                    <a:pt x="2978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A0E5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1423908" cy="247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  <a:r>
                <a:rPr lang="en-US" sz="3000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Predicted alerts help prioritize maintenance.</a:t>
              </a:r>
            </a:p>
          </p:txBody>
        </p:sp>
      </p:grpSp>
      <p:sp>
        <p:nvSpPr>
          <p:cNvPr name="Freeform 18" id="18">
            <a:hlinkClick r:id="rId3" tooltip="https://drive.google.com/file/d/1gF84aYouxVj9ViKbwnLlQ1arFnah0AYJ/view?usp=sharing"/>
          </p:cNvPr>
          <p:cNvSpPr/>
          <p:nvPr/>
        </p:nvSpPr>
        <p:spPr>
          <a:xfrm flipH="false" flipV="false" rot="0">
            <a:off x="8249391" y="1028700"/>
            <a:ext cx="7294994" cy="4346655"/>
          </a:xfrm>
          <a:custGeom>
            <a:avLst/>
            <a:gdLst/>
            <a:ahLst/>
            <a:cxnLst/>
            <a:rect r="r" b="b" t="t" l="l"/>
            <a:pathLst>
              <a:path h="4346655" w="7294994">
                <a:moveTo>
                  <a:pt x="0" y="0"/>
                </a:moveTo>
                <a:lnTo>
                  <a:pt x="7294994" y="0"/>
                </a:lnTo>
                <a:lnTo>
                  <a:pt x="7294994" y="4346655"/>
                </a:lnTo>
                <a:lnTo>
                  <a:pt x="0" y="434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9" id="19">
            <a:hlinkClick r:id="rId5" tooltip="https://drive.google.com/file/d/13YBAgla-5iUgsVtkam6lrZkMAoIz-xf8/view?usp=sharing"/>
          </p:cNvPr>
          <p:cNvSpPr/>
          <p:nvPr/>
        </p:nvSpPr>
        <p:spPr>
          <a:xfrm flipH="false" flipV="false" rot="0">
            <a:off x="8468785" y="5577404"/>
            <a:ext cx="7400655" cy="3680896"/>
          </a:xfrm>
          <a:custGeom>
            <a:avLst/>
            <a:gdLst/>
            <a:ahLst/>
            <a:cxnLst/>
            <a:rect r="r" b="b" t="t" l="l"/>
            <a:pathLst>
              <a:path h="3680896" w="7400655">
                <a:moveTo>
                  <a:pt x="0" y="0"/>
                </a:moveTo>
                <a:lnTo>
                  <a:pt x="7400655" y="0"/>
                </a:lnTo>
                <a:lnTo>
                  <a:pt x="7400655" y="3680896"/>
                </a:lnTo>
                <a:lnTo>
                  <a:pt x="0" y="36808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6149" y="0"/>
            <a:ext cx="3959323" cy="10287000"/>
            <a:chOff x="0" y="0"/>
            <a:chExt cx="104278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278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42785">
                  <a:moveTo>
                    <a:pt x="36956" y="0"/>
                  </a:moveTo>
                  <a:lnTo>
                    <a:pt x="1005828" y="0"/>
                  </a:lnTo>
                  <a:cubicBezTo>
                    <a:pt x="1015630" y="0"/>
                    <a:pt x="1025030" y="3894"/>
                    <a:pt x="1031960" y="10824"/>
                  </a:cubicBezTo>
                  <a:cubicBezTo>
                    <a:pt x="1038891" y="17755"/>
                    <a:pt x="1042785" y="27155"/>
                    <a:pt x="1042785" y="36956"/>
                  </a:cubicBezTo>
                  <a:lnTo>
                    <a:pt x="1042785" y="2672377"/>
                  </a:lnTo>
                  <a:cubicBezTo>
                    <a:pt x="1042785" y="2682178"/>
                    <a:pt x="1038891" y="2691578"/>
                    <a:pt x="1031960" y="2698509"/>
                  </a:cubicBezTo>
                  <a:cubicBezTo>
                    <a:pt x="1025030" y="2705440"/>
                    <a:pt x="1015630" y="2709333"/>
                    <a:pt x="1005828" y="2709333"/>
                  </a:cubicBezTo>
                  <a:lnTo>
                    <a:pt x="36956" y="2709333"/>
                  </a:lnTo>
                  <a:cubicBezTo>
                    <a:pt x="16546" y="2709333"/>
                    <a:pt x="0" y="2692787"/>
                    <a:pt x="0" y="2672377"/>
                  </a:cubicBezTo>
                  <a:lnTo>
                    <a:pt x="0" y="36956"/>
                  </a:lnTo>
                  <a:cubicBezTo>
                    <a:pt x="0" y="27155"/>
                    <a:pt x="3894" y="17755"/>
                    <a:pt x="10824" y="10824"/>
                  </a:cubicBezTo>
                  <a:cubicBezTo>
                    <a:pt x="17755" y="3894"/>
                    <a:pt x="27155" y="0"/>
                    <a:pt x="36956" y="0"/>
                  </a:cubicBezTo>
                  <a:close/>
                </a:path>
              </a:pathLst>
            </a:custGeom>
            <a:solidFill>
              <a:srgbClr val="1412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4278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90334" y="3301978"/>
            <a:ext cx="2701403" cy="850402"/>
            <a:chOff x="0" y="0"/>
            <a:chExt cx="711481" cy="2239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1481" cy="223974"/>
            </a:xfrm>
            <a:custGeom>
              <a:avLst/>
              <a:gdLst/>
              <a:ahLst/>
              <a:cxnLst/>
              <a:rect r="r" b="b" t="t" l="l"/>
              <a:pathLst>
                <a:path h="223974" w="711481">
                  <a:moveTo>
                    <a:pt x="58034" y="0"/>
                  </a:moveTo>
                  <a:lnTo>
                    <a:pt x="653447" y="0"/>
                  </a:lnTo>
                  <a:cubicBezTo>
                    <a:pt x="685498" y="0"/>
                    <a:pt x="711481" y="25983"/>
                    <a:pt x="711481" y="58034"/>
                  </a:cubicBezTo>
                  <a:lnTo>
                    <a:pt x="711481" y="165940"/>
                  </a:lnTo>
                  <a:cubicBezTo>
                    <a:pt x="711481" y="181332"/>
                    <a:pt x="705366" y="196093"/>
                    <a:pt x="694483" y="206976"/>
                  </a:cubicBezTo>
                  <a:cubicBezTo>
                    <a:pt x="683599" y="217860"/>
                    <a:pt x="668838" y="223974"/>
                    <a:pt x="653447" y="223974"/>
                  </a:cubicBezTo>
                  <a:lnTo>
                    <a:pt x="58034" y="223974"/>
                  </a:lnTo>
                  <a:cubicBezTo>
                    <a:pt x="25983" y="223974"/>
                    <a:pt x="0" y="197991"/>
                    <a:pt x="0" y="165940"/>
                  </a:cubicBezTo>
                  <a:lnTo>
                    <a:pt x="0" y="58034"/>
                  </a:lnTo>
                  <a:cubicBezTo>
                    <a:pt x="0" y="25983"/>
                    <a:pt x="25983" y="0"/>
                    <a:pt x="58034" y="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11481" cy="2620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6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617965" y="850764"/>
            <a:ext cx="138165" cy="86165"/>
          </a:xfrm>
          <a:custGeom>
            <a:avLst/>
            <a:gdLst/>
            <a:ahLst/>
            <a:cxnLst/>
            <a:rect r="r" b="b" t="t" l="l"/>
            <a:pathLst>
              <a:path h="86165" w="138165">
                <a:moveTo>
                  <a:pt x="0" y="0"/>
                </a:moveTo>
                <a:lnTo>
                  <a:pt x="138165" y="0"/>
                </a:lnTo>
                <a:lnTo>
                  <a:pt x="138165" y="86165"/>
                </a:lnTo>
                <a:lnTo>
                  <a:pt x="0" y="861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50742" y="4346119"/>
            <a:ext cx="385354" cy="159440"/>
          </a:xfrm>
          <a:custGeom>
            <a:avLst/>
            <a:gdLst/>
            <a:ahLst/>
            <a:cxnLst/>
            <a:rect r="r" b="b" t="t" l="l"/>
            <a:pathLst>
              <a:path h="159440" w="385354">
                <a:moveTo>
                  <a:pt x="0" y="0"/>
                </a:moveTo>
                <a:lnTo>
                  <a:pt x="385354" y="0"/>
                </a:lnTo>
                <a:lnTo>
                  <a:pt x="385354" y="159441"/>
                </a:lnTo>
                <a:lnTo>
                  <a:pt x="0" y="159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7847480">
            <a:off x="1704488" y="5498388"/>
            <a:ext cx="277862" cy="122259"/>
          </a:xfrm>
          <a:custGeom>
            <a:avLst/>
            <a:gdLst/>
            <a:ahLst/>
            <a:cxnLst/>
            <a:rect r="r" b="b" t="t" l="l"/>
            <a:pathLst>
              <a:path h="122259" w="277862">
                <a:moveTo>
                  <a:pt x="0" y="0"/>
                </a:moveTo>
                <a:lnTo>
                  <a:pt x="277862" y="0"/>
                </a:lnTo>
                <a:lnTo>
                  <a:pt x="277862" y="122259"/>
                </a:lnTo>
                <a:lnTo>
                  <a:pt x="0" y="1222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98342" y="3615585"/>
            <a:ext cx="239753" cy="223188"/>
          </a:xfrm>
          <a:custGeom>
            <a:avLst/>
            <a:gdLst/>
            <a:ahLst/>
            <a:cxnLst/>
            <a:rect r="r" b="b" t="t" l="l"/>
            <a:pathLst>
              <a:path h="223188" w="239753">
                <a:moveTo>
                  <a:pt x="0" y="0"/>
                </a:moveTo>
                <a:lnTo>
                  <a:pt x="239753" y="0"/>
                </a:lnTo>
                <a:lnTo>
                  <a:pt x="239753" y="223188"/>
                </a:lnTo>
                <a:lnTo>
                  <a:pt x="0" y="2231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98342" y="4866535"/>
            <a:ext cx="290154" cy="276965"/>
          </a:xfrm>
          <a:custGeom>
            <a:avLst/>
            <a:gdLst/>
            <a:ahLst/>
            <a:cxnLst/>
            <a:rect r="r" b="b" t="t" l="l"/>
            <a:pathLst>
              <a:path h="276965" w="290154">
                <a:moveTo>
                  <a:pt x="0" y="0"/>
                </a:moveTo>
                <a:lnTo>
                  <a:pt x="290154" y="0"/>
                </a:lnTo>
                <a:lnTo>
                  <a:pt x="290154" y="276965"/>
                </a:lnTo>
                <a:lnTo>
                  <a:pt x="0" y="2769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304415" y="6139421"/>
            <a:ext cx="78843" cy="49169"/>
          </a:xfrm>
          <a:custGeom>
            <a:avLst/>
            <a:gdLst/>
            <a:ahLst/>
            <a:cxnLst/>
            <a:rect r="r" b="b" t="t" l="l"/>
            <a:pathLst>
              <a:path h="49169" w="78843">
                <a:moveTo>
                  <a:pt x="0" y="0"/>
                </a:moveTo>
                <a:lnTo>
                  <a:pt x="78842" y="0"/>
                </a:lnTo>
                <a:lnTo>
                  <a:pt x="78842" y="49169"/>
                </a:lnTo>
                <a:lnTo>
                  <a:pt x="0" y="491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12360830" y="8852351"/>
            <a:ext cx="0" cy="244896"/>
          </a:xfrm>
          <a:prstGeom prst="line">
            <a:avLst/>
          </a:prstGeom>
          <a:ln cap="rnd" w="9525">
            <a:solidFill>
              <a:srgbClr val="D5D5D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4764534" y="8864873"/>
            <a:ext cx="0" cy="244896"/>
          </a:xfrm>
          <a:prstGeom prst="line">
            <a:avLst/>
          </a:prstGeom>
          <a:ln cap="rnd" w="9525">
            <a:solidFill>
              <a:srgbClr val="D5D5D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5400000">
            <a:off x="15051893" y="6043268"/>
            <a:ext cx="78843" cy="49169"/>
          </a:xfrm>
          <a:custGeom>
            <a:avLst/>
            <a:gdLst/>
            <a:ahLst/>
            <a:cxnLst/>
            <a:rect r="r" b="b" t="t" l="l"/>
            <a:pathLst>
              <a:path h="49169" w="78843">
                <a:moveTo>
                  <a:pt x="0" y="0"/>
                </a:moveTo>
                <a:lnTo>
                  <a:pt x="78843" y="0"/>
                </a:lnTo>
                <a:lnTo>
                  <a:pt x="78843" y="49169"/>
                </a:lnTo>
                <a:lnTo>
                  <a:pt x="0" y="491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5400000">
            <a:off x="16280894" y="6043268"/>
            <a:ext cx="78843" cy="49169"/>
          </a:xfrm>
          <a:custGeom>
            <a:avLst/>
            <a:gdLst/>
            <a:ahLst/>
            <a:cxnLst/>
            <a:rect r="r" b="b" t="t" l="l"/>
            <a:pathLst>
              <a:path h="49169" w="78843">
                <a:moveTo>
                  <a:pt x="0" y="0"/>
                </a:moveTo>
                <a:lnTo>
                  <a:pt x="78843" y="0"/>
                </a:lnTo>
                <a:lnTo>
                  <a:pt x="78843" y="49169"/>
                </a:lnTo>
                <a:lnTo>
                  <a:pt x="0" y="491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308272" y="3546165"/>
            <a:ext cx="1804064" cy="292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1755" b="true">
                <a:solidFill>
                  <a:srgbClr val="C940E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1️⃣ Overview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87674" y="4287537"/>
            <a:ext cx="1500740" cy="24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48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2️⃣  Results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87674" y="4854179"/>
            <a:ext cx="1804064" cy="24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48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3️⃣Alerts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87674" y="5420821"/>
            <a:ext cx="1500740" cy="24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48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4️⃣Chatbot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37915" y="3467667"/>
            <a:ext cx="64294" cy="519024"/>
            <a:chOff x="0" y="0"/>
            <a:chExt cx="16933" cy="13669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933" cy="136698"/>
            </a:xfrm>
            <a:custGeom>
              <a:avLst/>
              <a:gdLst/>
              <a:ahLst/>
              <a:cxnLst/>
              <a:rect r="r" b="b" t="t" l="l"/>
              <a:pathLst>
                <a:path h="136698" w="16933">
                  <a:moveTo>
                    <a:pt x="8467" y="0"/>
                  </a:moveTo>
                  <a:lnTo>
                    <a:pt x="8467" y="0"/>
                  </a:lnTo>
                  <a:cubicBezTo>
                    <a:pt x="13143" y="0"/>
                    <a:pt x="16933" y="3791"/>
                    <a:pt x="16933" y="8467"/>
                  </a:cubicBezTo>
                  <a:lnTo>
                    <a:pt x="16933" y="128231"/>
                  </a:lnTo>
                  <a:cubicBezTo>
                    <a:pt x="16933" y="132907"/>
                    <a:pt x="13143" y="136698"/>
                    <a:pt x="8467" y="136698"/>
                  </a:cubicBezTo>
                  <a:lnTo>
                    <a:pt x="8467" y="136698"/>
                  </a:lnTo>
                  <a:cubicBezTo>
                    <a:pt x="3791" y="136698"/>
                    <a:pt x="0" y="132907"/>
                    <a:pt x="0" y="128231"/>
                  </a:cubicBezTo>
                  <a:lnTo>
                    <a:pt x="0" y="8467"/>
                  </a:lnTo>
                  <a:cubicBezTo>
                    <a:pt x="0" y="3791"/>
                    <a:pt x="3791" y="0"/>
                    <a:pt x="8467" y="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6933" cy="174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818219" y="6386627"/>
            <a:ext cx="1720661" cy="366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 spc="-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📊</a:t>
            </a:r>
            <a:r>
              <a:rPr lang="en-US" sz="1890" spc="-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Quick Stats</a:t>
            </a:r>
          </a:p>
          <a:p>
            <a:pPr algn="ctr">
              <a:lnSpc>
                <a:spcPts val="2646"/>
              </a:lnSpc>
              <a:spcBef>
                <a:spcPct val="0"/>
              </a:spcBef>
            </a:pPr>
          </a:p>
          <a:p>
            <a:pPr algn="l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Model Type</a:t>
            </a:r>
          </a:p>
          <a:p>
            <a:pPr algn="l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BiLSTM</a:t>
            </a:r>
          </a:p>
          <a:p>
            <a:pPr algn="l">
              <a:lnSpc>
                <a:spcPts val="2646"/>
              </a:lnSpc>
              <a:spcBef>
                <a:spcPct val="0"/>
              </a:spcBef>
            </a:pPr>
          </a:p>
          <a:p>
            <a:pPr algn="l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Test R²</a:t>
            </a:r>
          </a:p>
          <a:p>
            <a:pPr algn="l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0.9438</a:t>
            </a:r>
          </a:p>
          <a:p>
            <a:pPr algn="l">
              <a:lnSpc>
                <a:spcPts val="2646"/>
              </a:lnSpc>
              <a:spcBef>
                <a:spcPct val="0"/>
              </a:spcBef>
            </a:pPr>
          </a:p>
          <a:p>
            <a:pPr algn="l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Features</a:t>
            </a:r>
          </a:p>
          <a:p>
            <a:pPr algn="l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20</a:t>
            </a:r>
          </a:p>
          <a:p>
            <a:pPr algn="ctr">
              <a:lnSpc>
                <a:spcPts val="2646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4776672" y="233004"/>
            <a:ext cx="13026580" cy="2295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96"/>
              </a:lnSpc>
            </a:pPr>
            <a:r>
              <a:rPr lang="en-US" sz="6354" b="true">
                <a:solidFill>
                  <a:srgbClr val="00A0E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Milestone 5: </a:t>
            </a:r>
            <a:r>
              <a:rPr lang="en-US" sz="6354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Visualization &amp; Dashboard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742658" y="2444097"/>
            <a:ext cx="4886325" cy="3900048"/>
            <a:chOff x="0" y="0"/>
            <a:chExt cx="1286933" cy="102717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86933" cy="1027173"/>
            </a:xfrm>
            <a:custGeom>
              <a:avLst/>
              <a:gdLst/>
              <a:ahLst/>
              <a:cxnLst/>
              <a:rect r="r" b="b" t="t" l="l"/>
              <a:pathLst>
                <a:path h="1027173" w="1286933">
                  <a:moveTo>
                    <a:pt x="53474" y="0"/>
                  </a:moveTo>
                  <a:lnTo>
                    <a:pt x="1233460" y="0"/>
                  </a:lnTo>
                  <a:cubicBezTo>
                    <a:pt x="1262992" y="0"/>
                    <a:pt x="1286933" y="23941"/>
                    <a:pt x="1286933" y="53474"/>
                  </a:cubicBezTo>
                  <a:lnTo>
                    <a:pt x="1286933" y="973699"/>
                  </a:lnTo>
                  <a:cubicBezTo>
                    <a:pt x="1286933" y="1003232"/>
                    <a:pt x="1262992" y="1027173"/>
                    <a:pt x="1233460" y="1027173"/>
                  </a:cubicBezTo>
                  <a:lnTo>
                    <a:pt x="53474" y="1027173"/>
                  </a:lnTo>
                  <a:cubicBezTo>
                    <a:pt x="23941" y="1027173"/>
                    <a:pt x="0" y="1003232"/>
                    <a:pt x="0" y="973699"/>
                  </a:cubicBezTo>
                  <a:lnTo>
                    <a:pt x="0" y="53474"/>
                  </a:lnTo>
                  <a:cubicBezTo>
                    <a:pt x="0" y="23941"/>
                    <a:pt x="23941" y="0"/>
                    <a:pt x="534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3072E">
                    <a:alpha val="100000"/>
                  </a:srgbClr>
                </a:gs>
                <a:gs pos="100000">
                  <a:srgbClr val="3F2182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1286933" cy="104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7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5157788" y="2769625"/>
            <a:ext cx="771525" cy="532352"/>
          </a:xfrm>
          <a:custGeom>
            <a:avLst/>
            <a:gdLst/>
            <a:ahLst/>
            <a:cxnLst/>
            <a:rect r="r" b="b" t="t" l="l"/>
            <a:pathLst>
              <a:path h="532352" w="771525">
                <a:moveTo>
                  <a:pt x="0" y="0"/>
                </a:moveTo>
                <a:lnTo>
                  <a:pt x="771525" y="0"/>
                </a:lnTo>
                <a:lnTo>
                  <a:pt x="771525" y="532353"/>
                </a:lnTo>
                <a:lnTo>
                  <a:pt x="0" y="53235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5543550" y="3596535"/>
            <a:ext cx="3600450" cy="99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2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Interactive Dashboard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543550" y="4818116"/>
            <a:ext cx="3600450" cy="983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15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Built using Streamlit with gradient UI and sidebar navigation.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992011" y="2444097"/>
            <a:ext cx="4886325" cy="3900048"/>
            <a:chOff x="0" y="0"/>
            <a:chExt cx="1286933" cy="102717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86933" cy="1027173"/>
            </a:xfrm>
            <a:custGeom>
              <a:avLst/>
              <a:gdLst/>
              <a:ahLst/>
              <a:cxnLst/>
              <a:rect r="r" b="b" t="t" l="l"/>
              <a:pathLst>
                <a:path h="1027173" w="1286933">
                  <a:moveTo>
                    <a:pt x="53474" y="0"/>
                  </a:moveTo>
                  <a:lnTo>
                    <a:pt x="1233460" y="0"/>
                  </a:lnTo>
                  <a:cubicBezTo>
                    <a:pt x="1262992" y="0"/>
                    <a:pt x="1286933" y="23941"/>
                    <a:pt x="1286933" y="53474"/>
                  </a:cubicBezTo>
                  <a:lnTo>
                    <a:pt x="1286933" y="973699"/>
                  </a:lnTo>
                  <a:cubicBezTo>
                    <a:pt x="1286933" y="1003232"/>
                    <a:pt x="1262992" y="1027173"/>
                    <a:pt x="1233460" y="1027173"/>
                  </a:cubicBezTo>
                  <a:lnTo>
                    <a:pt x="53474" y="1027173"/>
                  </a:lnTo>
                  <a:cubicBezTo>
                    <a:pt x="23941" y="1027173"/>
                    <a:pt x="0" y="1003232"/>
                    <a:pt x="0" y="973699"/>
                  </a:cubicBezTo>
                  <a:lnTo>
                    <a:pt x="0" y="53474"/>
                  </a:lnTo>
                  <a:cubicBezTo>
                    <a:pt x="0" y="23941"/>
                    <a:pt x="23941" y="0"/>
                    <a:pt x="534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3072E">
                    <a:alpha val="100000"/>
                  </a:srgbClr>
                </a:gs>
                <a:gs pos="100000">
                  <a:srgbClr val="3F2182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286933" cy="104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7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1289962" y="2769625"/>
            <a:ext cx="771525" cy="532352"/>
          </a:xfrm>
          <a:custGeom>
            <a:avLst/>
            <a:gdLst/>
            <a:ahLst/>
            <a:cxnLst/>
            <a:rect r="r" b="b" t="t" l="l"/>
            <a:pathLst>
              <a:path h="532352" w="771525">
                <a:moveTo>
                  <a:pt x="0" y="0"/>
                </a:moveTo>
                <a:lnTo>
                  <a:pt x="771525" y="0"/>
                </a:lnTo>
                <a:lnTo>
                  <a:pt x="771525" y="532353"/>
                </a:lnTo>
                <a:lnTo>
                  <a:pt x="0" y="53235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1876942" y="3527244"/>
            <a:ext cx="3600450" cy="99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2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🧠 Model Integration: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634948" y="4818116"/>
            <a:ext cx="3600450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15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BiLSTM model predicts Remaining Useful Life (RUL) from time-series sensor data.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4742658" y="6424727"/>
            <a:ext cx="4886325" cy="3862273"/>
            <a:chOff x="0" y="0"/>
            <a:chExt cx="1286933" cy="101722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86933" cy="1017224"/>
            </a:xfrm>
            <a:custGeom>
              <a:avLst/>
              <a:gdLst/>
              <a:ahLst/>
              <a:cxnLst/>
              <a:rect r="r" b="b" t="t" l="l"/>
              <a:pathLst>
                <a:path h="1017224" w="1286933">
                  <a:moveTo>
                    <a:pt x="53474" y="0"/>
                  </a:moveTo>
                  <a:lnTo>
                    <a:pt x="1233460" y="0"/>
                  </a:lnTo>
                  <a:cubicBezTo>
                    <a:pt x="1262992" y="0"/>
                    <a:pt x="1286933" y="23941"/>
                    <a:pt x="1286933" y="53474"/>
                  </a:cubicBezTo>
                  <a:lnTo>
                    <a:pt x="1286933" y="963750"/>
                  </a:lnTo>
                  <a:cubicBezTo>
                    <a:pt x="1286933" y="993283"/>
                    <a:pt x="1262992" y="1017224"/>
                    <a:pt x="1233460" y="1017224"/>
                  </a:cubicBezTo>
                  <a:lnTo>
                    <a:pt x="53474" y="1017224"/>
                  </a:lnTo>
                  <a:cubicBezTo>
                    <a:pt x="23941" y="1017224"/>
                    <a:pt x="0" y="993283"/>
                    <a:pt x="0" y="963750"/>
                  </a:cubicBezTo>
                  <a:lnTo>
                    <a:pt x="0" y="53474"/>
                  </a:lnTo>
                  <a:cubicBezTo>
                    <a:pt x="0" y="23941"/>
                    <a:pt x="23941" y="0"/>
                    <a:pt x="534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3072E">
                    <a:alpha val="100000"/>
                  </a:srgbClr>
                </a:gs>
                <a:gs pos="100000">
                  <a:srgbClr val="3F2182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1286933" cy="1036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7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5157788" y="7358939"/>
            <a:ext cx="3600450" cy="99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2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📊 Performance Metrics: 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5157788" y="6652755"/>
            <a:ext cx="771525" cy="532352"/>
          </a:xfrm>
          <a:custGeom>
            <a:avLst/>
            <a:gdLst/>
            <a:ahLst/>
            <a:cxnLst/>
            <a:rect r="r" b="b" t="t" l="l"/>
            <a:pathLst>
              <a:path h="532352" w="771525">
                <a:moveTo>
                  <a:pt x="0" y="0"/>
                </a:moveTo>
                <a:lnTo>
                  <a:pt x="771525" y="0"/>
                </a:lnTo>
                <a:lnTo>
                  <a:pt x="771525" y="532352"/>
                </a:lnTo>
                <a:lnTo>
                  <a:pt x="0" y="53235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5157788" y="8529086"/>
            <a:ext cx="3600450" cy="983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15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Displayed using Plotly charts (RMSE, MAE, R², Mean Bias, Error Std).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0992011" y="6424727"/>
            <a:ext cx="4886325" cy="3862273"/>
            <a:chOff x="0" y="0"/>
            <a:chExt cx="1286933" cy="101722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86933" cy="1017224"/>
            </a:xfrm>
            <a:custGeom>
              <a:avLst/>
              <a:gdLst/>
              <a:ahLst/>
              <a:cxnLst/>
              <a:rect r="r" b="b" t="t" l="l"/>
              <a:pathLst>
                <a:path h="1017224" w="1286933">
                  <a:moveTo>
                    <a:pt x="53474" y="0"/>
                  </a:moveTo>
                  <a:lnTo>
                    <a:pt x="1233460" y="0"/>
                  </a:lnTo>
                  <a:cubicBezTo>
                    <a:pt x="1262992" y="0"/>
                    <a:pt x="1286933" y="23941"/>
                    <a:pt x="1286933" y="53474"/>
                  </a:cubicBezTo>
                  <a:lnTo>
                    <a:pt x="1286933" y="963750"/>
                  </a:lnTo>
                  <a:cubicBezTo>
                    <a:pt x="1286933" y="993283"/>
                    <a:pt x="1262992" y="1017224"/>
                    <a:pt x="1233460" y="1017224"/>
                  </a:cubicBezTo>
                  <a:lnTo>
                    <a:pt x="53474" y="1017224"/>
                  </a:lnTo>
                  <a:cubicBezTo>
                    <a:pt x="23941" y="1017224"/>
                    <a:pt x="0" y="993283"/>
                    <a:pt x="0" y="963750"/>
                  </a:cubicBezTo>
                  <a:lnTo>
                    <a:pt x="0" y="53474"/>
                  </a:lnTo>
                  <a:cubicBezTo>
                    <a:pt x="0" y="23941"/>
                    <a:pt x="23941" y="0"/>
                    <a:pt x="534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3072E">
                    <a:alpha val="100000"/>
                  </a:srgbClr>
                </a:gs>
                <a:gs pos="100000">
                  <a:srgbClr val="3F2182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1286933" cy="1036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7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11491180" y="6652755"/>
            <a:ext cx="771525" cy="532352"/>
          </a:xfrm>
          <a:custGeom>
            <a:avLst/>
            <a:gdLst/>
            <a:ahLst/>
            <a:cxnLst/>
            <a:rect r="r" b="b" t="t" l="l"/>
            <a:pathLst>
              <a:path h="532352" w="771525">
                <a:moveTo>
                  <a:pt x="0" y="0"/>
                </a:moveTo>
                <a:lnTo>
                  <a:pt x="771525" y="0"/>
                </a:lnTo>
                <a:lnTo>
                  <a:pt x="771525" y="532352"/>
                </a:lnTo>
                <a:lnTo>
                  <a:pt x="0" y="53235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1634948" y="7358939"/>
            <a:ext cx="3600450" cy="507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2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🤖 AI Chatbot: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634948" y="8529086"/>
            <a:ext cx="3600450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15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Powered by Tavily API for user interaction and explanation of results.</a:t>
            </a:r>
          </a:p>
          <a:p>
            <a:pPr algn="l">
              <a:lnSpc>
                <a:spcPts val="2591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9258300"/>
            <a:ext cx="18941525" cy="3086100"/>
            <a:chOff x="0" y="0"/>
            <a:chExt cx="4988714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8714" cy="812800"/>
            </a:xfrm>
            <a:custGeom>
              <a:avLst/>
              <a:gdLst/>
              <a:ahLst/>
              <a:cxnLst/>
              <a:rect r="r" b="b" t="t" l="l"/>
              <a:pathLst>
                <a:path h="812800" w="4988714">
                  <a:moveTo>
                    <a:pt x="0" y="0"/>
                  </a:moveTo>
                  <a:lnTo>
                    <a:pt x="4988714" y="0"/>
                  </a:lnTo>
                  <a:lnTo>
                    <a:pt x="49887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A0E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988714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98225" y="1577691"/>
            <a:ext cx="17989775" cy="9745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3"/>
              </a:lnSpc>
            </a:pPr>
            <a:r>
              <a:rPr lang="en-US" sz="369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Deployed Dashboard: </a:t>
            </a:r>
          </a:p>
          <a:p>
            <a:pPr algn="l">
              <a:lnSpc>
                <a:spcPts val="5173"/>
              </a:lnSpc>
            </a:pPr>
            <a:r>
              <a:rPr lang="en-US" sz="3695" u="sng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  <a:hlinkClick r:id="rId2" tooltip="https://milestone5-fewucmtz4wjy4nwvowtfpv.streamlit.app"/>
              </a:rPr>
              <a:t>https://milestone5-fewucmtz4wjy4nwvowtfpv.streamlit.app/</a:t>
            </a:r>
          </a:p>
          <a:p>
            <a:pPr algn="l">
              <a:lnSpc>
                <a:spcPts val="5173"/>
              </a:lnSpc>
            </a:pPr>
          </a:p>
          <a:p>
            <a:pPr algn="l" marL="797796" indent="-398898" lvl="1">
              <a:lnSpc>
                <a:spcPts val="5173"/>
              </a:lnSpc>
              <a:buFont typeface="Arial"/>
              <a:buChar char="•"/>
            </a:pPr>
            <a:r>
              <a:rPr lang="en-US" sz="369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PrognosAI demonstrates how AI-driven predictive maintenance enhances industrial reliability and efficiency.</a:t>
            </a:r>
          </a:p>
          <a:p>
            <a:pPr algn="l" marL="797796" indent="-398898" lvl="1">
              <a:lnSpc>
                <a:spcPts val="5173"/>
              </a:lnSpc>
              <a:buFont typeface="Arial"/>
              <a:buChar char="•"/>
            </a:pPr>
            <a:r>
              <a:rPr lang="en-US" sz="369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The Bi-LSTM model accurately predicts Remaining Useful Life (RUL) using time-series sensor data.</a:t>
            </a:r>
          </a:p>
          <a:p>
            <a:pPr algn="l" marL="797796" indent="-398898" lvl="1">
              <a:lnSpc>
                <a:spcPts val="5173"/>
              </a:lnSpc>
              <a:buFont typeface="Arial"/>
              <a:buChar char="•"/>
            </a:pPr>
            <a:r>
              <a:rPr lang="en-US" sz="369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The integrated Streamlit dashboard provides real-time visualization, alert generation, and AI assistant interaction.</a:t>
            </a:r>
          </a:p>
          <a:p>
            <a:pPr algn="l" marL="797796" indent="-398898" lvl="1">
              <a:lnSpc>
                <a:spcPts val="5173"/>
              </a:lnSpc>
              <a:buFont typeface="Arial"/>
              <a:buChar char="•"/>
            </a:pPr>
            <a:r>
              <a:rPr lang="en-US" sz="369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The system enables a shift from reactive to proactive maintenance, reducing downtime and optimizing asset utilization.</a:t>
            </a:r>
          </a:p>
          <a:p>
            <a:pPr algn="l">
              <a:lnSpc>
                <a:spcPts val="5173"/>
              </a:lnSpc>
            </a:pPr>
          </a:p>
          <a:p>
            <a:pPr algn="l">
              <a:lnSpc>
                <a:spcPts val="5173"/>
              </a:lnSpc>
            </a:pPr>
          </a:p>
          <a:p>
            <a:pPr algn="l">
              <a:lnSpc>
                <a:spcPts val="5173"/>
              </a:lnSpc>
            </a:pPr>
          </a:p>
          <a:p>
            <a:pPr algn="l">
              <a:lnSpc>
                <a:spcPts val="517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98225" y="-81076"/>
            <a:ext cx="17989775" cy="1416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39"/>
              </a:lnSpc>
            </a:pPr>
            <a:r>
              <a:rPr lang="en-US" sz="7528" b="true">
                <a:solidFill>
                  <a:srgbClr val="00A0E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Conclusion: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DAG4lOQ_OWI</dc:identifier>
  <dcterms:modified xsi:type="dcterms:W3CDTF">2011-08-01T06:04:30Z</dcterms:modified>
  <cp:revision>1</cp:revision>
  <dc:title>AI-Driven Predictive Maintenance System Using Time-Series Sensor Data</dc:title>
</cp:coreProperties>
</file>